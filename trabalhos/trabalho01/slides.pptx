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6faf8f25e5454c" /><Relationship Type="http://schemas.openxmlformats.org/officeDocument/2006/relationships/extended-properties" Target="/docProps/app.xml" Id="Rc9c9a9cbcc114d9f" /><Relationship Type="http://schemas.openxmlformats.org/officeDocument/2006/relationships/officeDocument" Target="/ppt/presentation.xml" Id="R4fe6917995a44e0b" /></Relationships>
</file>

<file path=ppt/presentation.xml><?xml version="1.0" encoding="utf-8"?>
<p:presentation xmlns:p="http://schemas.openxmlformats.org/presentationml/2006/main">
  <p:sldMasterIdLst>
    <p:sldMasterId xmlns:r="http://schemas.openxmlformats.org/officeDocument/2006/relationships" id="2147483648" r:id="Rc3bd36cd2f194b35"/>
  </p:sldMasterIdLst>
  <p:notesMasterIdLst>
    <p:notesMasterId xmlns:r="http://schemas.openxmlformats.org/officeDocument/2006/relationships" r:id="R27c8d3aed09741c3"/>
  </p:notesMasterIdLst>
  <p:sldIdLst>
    <p:sldId xmlns:r="http://schemas.openxmlformats.org/officeDocument/2006/relationships" id="256" r:id="Ra98a68564f0e4189"/>
    <p:sldId xmlns:r="http://schemas.openxmlformats.org/officeDocument/2006/relationships" id="257" r:id="R01c5af37a55d4b25"/>
    <p:sldId xmlns:r="http://schemas.openxmlformats.org/officeDocument/2006/relationships" id="258" r:id="R4104cc66896b4ead"/>
    <p:sldId xmlns:r="http://schemas.openxmlformats.org/officeDocument/2006/relationships" id="259" r:id="Rb8ad6acdde3541a0"/>
    <p:sldId xmlns:r="http://schemas.openxmlformats.org/officeDocument/2006/relationships" id="260" r:id="Rc2974f2df22744be"/>
    <p:sldId xmlns:r="http://schemas.openxmlformats.org/officeDocument/2006/relationships" id="261" r:id="Ref6e99efae19479d"/>
    <p:sldId xmlns:r="http://schemas.openxmlformats.org/officeDocument/2006/relationships" id="262" r:id="R93eb1a617b41445c"/>
    <p:sldId xmlns:r="http://schemas.openxmlformats.org/officeDocument/2006/relationships" id="263" r:id="Rfed33259a66045e0"/>
    <p:sldId xmlns:r="http://schemas.openxmlformats.org/officeDocument/2006/relationships" id="264" r:id="R728d083897664b14"/>
    <p:sldId xmlns:r="http://schemas.openxmlformats.org/officeDocument/2006/relationships" id="265" r:id="Rfb0a309d36374f94"/>
    <p:sldId xmlns:r="http://schemas.openxmlformats.org/officeDocument/2006/relationships" id="266" r:id="Rd3af7f8f19ba499c"/>
    <p:sldId xmlns:r="http://schemas.openxmlformats.org/officeDocument/2006/relationships" id="267" r:id="Ra91c472db5614e44"/>
    <p:sldId xmlns:r="http://schemas.openxmlformats.org/officeDocument/2006/relationships" id="268" r:id="Rebfec563934444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50a7a232de464b" /><Relationship Type="http://schemas.openxmlformats.org/officeDocument/2006/relationships/slideMaster" Target="/ppt/slideMasters/slideMaster1.xml" Id="Rc3bd36cd2f194b35" /><Relationship Type="http://schemas.openxmlformats.org/officeDocument/2006/relationships/notesMaster" Target="/ppt/notesMasters/notesMaster1.xml" Id="R27c8d3aed09741c3" /><Relationship Type="http://schemas.openxmlformats.org/officeDocument/2006/relationships/presProps" Target="/ppt/presProps.xml" Id="R75f1901a92314e2a" /><Relationship Type="http://schemas.openxmlformats.org/officeDocument/2006/relationships/tableStyles" Target="/ppt/tableStyles.xml" Id="R22302f06d9044eeb" /><Relationship Type="http://schemas.openxmlformats.org/officeDocument/2006/relationships/slide" Target="/ppt/slides/slide1.xml" Id="Ra98a68564f0e4189" /><Relationship Type="http://schemas.openxmlformats.org/officeDocument/2006/relationships/slide" Target="/ppt/slides/slide2.xml" Id="R01c5af37a55d4b25" /><Relationship Type="http://schemas.openxmlformats.org/officeDocument/2006/relationships/slide" Target="/ppt/slides/slide3.xml" Id="R4104cc66896b4ead" /><Relationship Type="http://schemas.openxmlformats.org/officeDocument/2006/relationships/slide" Target="/ppt/slides/slide4.xml" Id="Rb8ad6acdde3541a0" /><Relationship Type="http://schemas.openxmlformats.org/officeDocument/2006/relationships/slide" Target="/ppt/slides/slide5.xml" Id="Rc2974f2df22744be" /><Relationship Type="http://schemas.openxmlformats.org/officeDocument/2006/relationships/slide" Target="/ppt/slides/slide6.xml" Id="Ref6e99efae19479d" /><Relationship Type="http://schemas.openxmlformats.org/officeDocument/2006/relationships/slide" Target="/ppt/slides/slide7.xml" Id="R93eb1a617b41445c" /><Relationship Type="http://schemas.openxmlformats.org/officeDocument/2006/relationships/slide" Target="/ppt/slides/slide8.xml" Id="Rfed33259a66045e0" /><Relationship Type="http://schemas.openxmlformats.org/officeDocument/2006/relationships/slide" Target="/ppt/slides/slide9.xml" Id="R728d083897664b14" /><Relationship Type="http://schemas.openxmlformats.org/officeDocument/2006/relationships/slide" Target="/ppt/slides/slide10.xml" Id="Rfb0a309d36374f94" /><Relationship Type="http://schemas.openxmlformats.org/officeDocument/2006/relationships/slide" Target="/ppt/slides/slide11.xml" Id="Rd3af7f8f19ba499c" /><Relationship Type="http://schemas.openxmlformats.org/officeDocument/2006/relationships/slide" Target="/ppt/slides/slide12.xml" Id="Ra91c472db5614e44" /><Relationship Type="http://schemas.openxmlformats.org/officeDocument/2006/relationships/slide" Target="/ppt/slides/slide13.xml" Id="Rebfec563934444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84b167bc3c44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ff72ef5a4843d3" /><Relationship Type="http://schemas.openxmlformats.org/officeDocument/2006/relationships/notesMaster" Target="/ppt/notesMasters/notesMaster1.xml" Id="R70d1e27754084f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abf5950bcb40d0" /><Relationship Type="http://schemas.openxmlformats.org/officeDocument/2006/relationships/notesMaster" Target="/ppt/notesMasters/notesMaster1.xml" Id="R5d02ecf22cdb45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df4f8b6d5c4fea" /><Relationship Type="http://schemas.openxmlformats.org/officeDocument/2006/relationships/notesMaster" Target="/ppt/notesMasters/notesMaster1.xml" Id="R1f570542b03c4e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bc875587074f96" /><Relationship Type="http://schemas.openxmlformats.org/officeDocument/2006/relationships/notesMaster" Target="/ppt/notesMasters/notesMaster1.xml" Id="Ra0546391a14048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4d575d90f64375" /><Relationship Type="http://schemas.openxmlformats.org/officeDocument/2006/relationships/notesMaster" Target="/ppt/notesMasters/notesMaster1.xml" Id="R9ab787217b1e49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c079300cd440b0" /><Relationship Type="http://schemas.openxmlformats.org/officeDocument/2006/relationships/notesMaster" Target="/ppt/notesMasters/notesMaster1.xml" Id="R702b717a91f649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51d2dfb8054d77" /><Relationship Type="http://schemas.openxmlformats.org/officeDocument/2006/relationships/notesMaster" Target="/ppt/notesMasters/notesMaster1.xml" Id="R78e028adab2a43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bd436a82d743fa" /><Relationship Type="http://schemas.openxmlformats.org/officeDocument/2006/relationships/notesMaster" Target="/ppt/notesMasters/notesMaster1.xml" Id="Rd7add0c063f247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9afd1542754667" /><Relationship Type="http://schemas.openxmlformats.org/officeDocument/2006/relationships/notesMaster" Target="/ppt/notesMasters/notesMaster1.xml" Id="R2c776831de2048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24e0587b104080" /><Relationship Type="http://schemas.openxmlformats.org/officeDocument/2006/relationships/notesMaster" Target="/ppt/notesMasters/notesMaster1.xml" Id="R4bcfe6f871724d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ad16600e834fa2" /><Relationship Type="http://schemas.openxmlformats.org/officeDocument/2006/relationships/notesMaster" Target="/ppt/notesMasters/notesMaster1.xml" Id="R7d9476d8e29242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4efd27c3804c50" /><Relationship Type="http://schemas.openxmlformats.org/officeDocument/2006/relationships/notesMaster" Target="/ppt/notesMasters/notesMaster1.xml" Id="Reef9265a5b1646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a50b42191b4816" /><Relationship Type="http://schemas.openxmlformats.org/officeDocument/2006/relationships/notesMaster" Target="/ppt/notesMasters/notesMaster1.xml" Id="R9be92027bf694a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defining the scope: this is Project 01, so the contribution is a controlled comparison of constructive insertion heuristics, not a claim of a state-of-the-art OP solver.</a:t>
            </a:r>
          </a:p>
          <a:p xmlns:a="http://schemas.openxmlformats.org/drawingml/2006/main">
            <a:r>
              <a:t/>
            </a:r>
          </a:p>
          <a:p xmlns:a="http://schemas.openxmlformats.org/drawingml/2006/main">
            <a:r>
              <a:t>The presentation follows the paper: problem, common framework, experiments, quality, diversity, guided randomization, route structures, and implementation.</a:t>
            </a:r>
          </a:p>
          <a:p xmlns:a="http://schemas.openxmlformats.org/drawingml/2006/main">
            <a:r>
              <a:t/>
            </a:r>
          </a:p>
          <a:p xmlns:a="http://schemas.openxmlformats.org/drawingml/2006/main">
            <a:r>
              <a:t>Source: Metaheuristics_Report_2_FINAL.tex; route crop from graphs/tsi_2.png.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Orienteering Problem chooses both which rewarding vertices to visit and in which order. The route starts at s, finishes at t, collects score S(R), and must satisfy the travel budget C(R) ≤ B.</a:t>
            </a:r>
          </a:p>
          <a:p xmlns:a="http://schemas.openxmlformats.org/drawingml/2006/main">
            <a:r>
              <a:t/>
            </a:r>
          </a:p>
          <a:p xmlns:a="http://schemas.openxmlformats.org/drawingml/2006/main">
            <a:r>
              <a:t>Because OP is NP-hard, the goal here is to build feasible routes quickly. These constructive heuristics do not guarantee optimality.</a:t>
            </a:r>
          </a:p>
          <a:p xmlns:a="http://schemas.openxmlformats.org/drawingml/2006/main">
            <a:r>
              <a:t/>
            </a:r>
          </a:p>
          <a:p xmlns:a="http://schemas.openxmlformats.org/drawingml/2006/main">
            <a:r>
              <a:t>Source: report Sections 2 and 3; complexity references are Golden et al. (1987) and Vansteenwegen et al. (2011).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methods start from the direct route (s,t). At each iteration, the program evaluates every feasible insertion of an unvisited vertex between consecutive route vertices.</a:t>
            </a:r>
          </a:p>
          <a:p xmlns:a="http://schemas.openxmlformats.org/drawingml/2006/main">
            <a:r>
              <a:t/>
            </a:r>
          </a:p>
          <a:p xmlns:a="http://schemas.openxmlformats.org/drawingml/2006/main">
            <a:r>
              <a:t>The marginal reward is the inserted vertex score. The marginal cost replaces arc (i,j) with arcs (i,u) and (u,j). Only the selection rule changes; candidate generation and feasibility stay fixed.</a:t>
            </a:r>
          </a:p>
          <a:p xmlns:a="http://schemas.openxmlformats.org/drawingml/2006/main">
            <a:r>
              <a:t/>
            </a:r>
          </a:p>
          <a:p xmlns:a="http://schemas.openxmlformats.org/drawingml/2006/main">
            <a:r>
              <a:t>This controlled design is what makes the comparison meaningful. Runtime was deliberately not compared because the shared prototype reevaluates complete candidate routes.</a:t>
            </a:r>
          </a:p>
          <a:p xmlns:a="http://schemas.openxmlformats.org/drawingml/2006/main">
            <a:r>
              <a:t/>
            </a:r>
          </a:p>
          <a:p xmlns:a="http://schemas.openxmlformats.org/drawingml/2006/main">
            <a:r>
              <a:t>Source: report Section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elementary experiment compares five intuitive rules: reward only, cost only, and three nonlinear score-cost ratios.</a:t>
            </a:r>
          </a:p>
          <a:p xmlns:a="http://schemas.openxmlformats.org/drawingml/2006/main">
            <a:r>
              <a:t/>
            </a:r>
          </a:p>
          <a:p xmlns:a="http://schemas.openxmlformats.org/drawingml/2006/main">
            <a:r>
              <a:t>For smart, wise, and envy, marginal and total-route formulations are not equivalent. That distinction became an explicit part of the experiment.</a:t>
            </a:r>
          </a:p>
          <a:p xmlns:a="http://schemas.openxmlformats.org/drawingml/2006/main">
            <a:r>
              <a:t/>
            </a:r>
          </a:p>
          <a:p xmlns:a="http://schemas.openxmlformats.org/drawingml/2006/main">
            <a:r>
              <a:t>The guided random methods later sample from marginal-envy, total-envy, and marginal-wise. Pure random insertion is kept as an unrestricted baseline.</a:t>
            </a:r>
          </a:p>
          <a:p xmlns:a="http://schemas.openxmlformats.org/drawingml/2006/main">
            <a:r>
              <a:t/>
            </a:r>
          </a:p>
          <a:p xmlns:a="http://schemas.openxmlformats.org/drawingml/2006/main">
            <a:r>
              <a:t>Source: report Sections 4.2–4.5.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benchmark has 89 classical instances from the Chao and Tsiligirides sets. Each method-instance pair used 5,000 constructions for quality summaries.</a:t>
            </a:r>
          </a:p>
          <a:p xmlns:a="http://schemas.openxmlformats.org/drawingml/2006/main">
            <a:r>
              <a:t/>
            </a:r>
          </a:p>
          <a:p xmlns:a="http://schemas.openxmlformats.org/drawingml/2006/main">
            <a:r>
              <a:t>Diversity used a uniform reservoir of 1,000 routes from those runs. The qualitative route grids are separate: 10,000 constructions followed by a max-min representative extraction.</a:t>
            </a:r>
          </a:p>
          <a:p xmlns:a="http://schemas.openxmlformats.org/drawingml/2006/main">
            <a:r>
              <a:t/>
            </a:r>
          </a:p>
          <a:p xmlns:a="http://schemas.openxmlformats.org/drawingml/2006/main">
            <a:r>
              <a:t>The reported analysis is descriptive. Error bars are standard errors across instances; no inferential significance test was performed.</a:t>
            </a:r>
          </a:p>
          <a:p xmlns:a="http://schemas.openxmlformats.org/drawingml/2006/main">
            <a:r>
              <a:t/>
            </a:r>
          </a:p>
          <a:p xmlns:a="http://schemas.openxmlformats.org/drawingml/2006/main">
            <a:r>
              <a:t>Hardware and software: AMD Ryzen 7 5700X, 31.27 GiB RAM, NixOS 26.05, Rust 1.97.1, Macroquad 0.4.16, rand 0.10.2, crossbeam-channel 0.5.17. Source: report Section 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Absolute instance scores have different scales, so this chart normalizes each method's median by the best median among the five elementary criteria on the same instance.</a:t>
            </a:r>
          </a:p>
          <a:p xmlns:a="http://schemas.openxmlformats.org/drawingml/2006/main">
            <a:r>
              <a:t/>
            </a:r>
          </a:p>
          <a:p xmlns:a="http://schemas.openxmlformats.org/drawingml/2006/main">
            <a:r>
              <a:t>Envy ranks first overall, then wise and smart. Lazy and greedy are weaker because each ignores one of the two dimensions: reward or insertion cost.</a:t>
            </a:r>
          </a:p>
          <a:p xmlns:a="http://schemas.openxmlformats.org/drawingml/2006/main">
            <a:r>
              <a:t/>
            </a:r>
          </a:p>
          <a:p xmlns:a="http://schemas.openxmlformats.org/drawingml/2006/main">
            <a:r>
              <a:t>Source: report Figure 'Mean relative median quality of the five elementary criteria'; graphs/qualidade_simples.png.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Global diversity is the average directed-arc Jaccard distance across all route pairs in the retained sample.</a:t>
            </a:r>
          </a:p>
          <a:p xmlns:a="http://schemas.openxmlformats.org/drawingml/2006/main">
            <a:r>
              <a:t/>
            </a:r>
          </a:p>
          <a:p xmlns:a="http://schemas.openxmlformats.org/drawingml/2006/main">
            <a:r>
              <a:t>Smart and envy have similar global spread, around 0.29, while wise is lower, around 0.24. This already shows that the quality ranking is not a diversity ranking.</a:t>
            </a:r>
          </a:p>
          <a:p xmlns:a="http://schemas.openxmlformats.org/drawingml/2006/main">
            <a:r>
              <a:t/>
            </a:r>
          </a:p>
          <a:p xmlns:a="http://schemas.openxmlformats.org/drawingml/2006/main">
            <a:r>
              <a:t>Source: report Figure 'Mean global route diversity'; graphs/global_diversity_simple.png.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diversity averages the distance from each route to its five nearest neighbors. It measures whether the sample contains tight clusters, not just whether its extremes are far apart.</a:t>
            </a:r>
          </a:p>
          <a:p xmlns:a="http://schemas.openxmlformats.org/drawingml/2006/main">
            <a:r>
              <a:t/>
            </a:r>
          </a:p>
          <a:p xmlns:a="http://schemas.openxmlformats.org/drawingml/2006/main">
            <a:r>
              <a:t>Wise is much more diverse locally. Smart and especially envy produce clusters of nearly identical routes, even though smart and envy had strong global diversity.</a:t>
            </a:r>
          </a:p>
          <a:p xmlns:a="http://schemas.openxmlformats.org/drawingml/2006/main">
            <a:r>
              <a:t/>
            </a:r>
          </a:p>
          <a:p xmlns:a="http://schemas.openxmlformats.org/drawingml/2006/main">
            <a:r>
              <a:t>This is why the report defines and interprets global and local diversity separately.</a:t>
            </a:r>
          </a:p>
          <a:p xmlns:a="http://schemas.openxmlformats.org/drawingml/2006/main">
            <a:r>
              <a:t/>
            </a:r>
          </a:p>
          <a:p xmlns:a="http://schemas.openxmlformats.org/drawingml/2006/main">
            <a:r>
              <a:t>Source: report Figure 'Mean local route diversity'; graphs/diversity_simple.png.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Marginal-smart is the common reference. Total-envy has the best deterministic mean improvement at 4.07 percent. Marginal-envy gains 2.89 percent, and total-smart gains 2.04 percent.</a:t>
            </a:r>
          </a:p>
          <a:p xmlns:a="http://schemas.openxmlformats.org/drawingml/2006/main">
            <a:r>
              <a:t/>
            </a:r>
          </a:p>
          <a:p xmlns:a="http://schemas.openxmlformats.org/drawingml/2006/main">
            <a:r>
              <a:t>But total-route information is not automatically superior: total-wise is about 0.41 percent below the marginal-smart reference, while marginal-wise is about 0.72 percent above it.</a:t>
            </a:r>
          </a:p>
          <a:p xmlns:a="http://schemas.openxmlformats.org/drawingml/2006/main">
            <a:r>
              <a:t/>
            </a:r>
          </a:p>
          <a:p xmlns:a="http://schemas.openxmlformats.org/drawingml/2006/main">
            <a:r>
              <a:t>The result supports naming the exact formulation instead of treating smart, wise, and envy as single rules.</a:t>
            </a:r>
          </a:p>
          <a:p xmlns:a="http://schemas.openxmlformats.org/drawingml/2006/main">
            <a:r>
              <a:t/>
            </a:r>
          </a:p>
          <a:p xmlns:a="http://schemas.openxmlformats.org/drawingml/2006/main">
            <a:r>
              <a:t>Source: report Figure 'Marginal and total deterministic formulations'; graphs/determinisc_vs_marginal_quality.png.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guided methods follow the deterministic curves closely across the 89 instances. Their mean improvements over marginal-smart range from 3.55 to 3.80 percent.</a:t>
            </a:r>
          </a:p>
          <a:p xmlns:a="http://schemas.openxmlformats.org/drawingml/2006/main">
            <a:r>
              <a:t/>
            </a:r>
          </a:p>
          <a:p xmlns:a="http://schemas.openxmlformats.org/drawingml/2006/main">
            <a:r>
              <a:t>Pure random insertion is visibly separated and loses about 44.17 percent in mean median score. Randomness alone is not competitive; the candidate choice still needs guidance.</a:t>
            </a:r>
          </a:p>
          <a:p xmlns:a="http://schemas.openxmlformats.org/drawingml/2006/main">
            <a:r>
              <a:t/>
            </a:r>
          </a:p>
          <a:p xmlns:a="http://schemas.openxmlformats.org/drawingml/2006/main">
            <a:r>
              <a:t>The x-axis labels were intentionally cropped for presentation readability; the complete by-instance figure remains in the paper.</a:t>
            </a:r>
          </a:p>
          <a:p xmlns:a="http://schemas.openxmlformats.org/drawingml/2006/main">
            <a:r>
              <a:t/>
            </a:r>
          </a:p>
          <a:p xmlns:a="http://schemas.openxmlformats.org/drawingml/2006/main">
            <a:r>
              <a:t>Source: report Section 5.6 and graphs/randomized_median_by_instance.png.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trade-off. The best deterministic result reaches 4.07 percent quality improvement but retains only roughly 28 to 31 percent of pure-random global diversity.</a:t>
            </a:r>
          </a:p>
          <a:p xmlns:a="http://schemas.openxmlformats.org/drawingml/2006/main">
            <a:r>
              <a:t/>
            </a:r>
          </a:p>
          <a:p xmlns:a="http://schemas.openxmlformats.org/drawingml/2006/main">
            <a:r>
              <a:t>The guided methods stay close in quality, at 3.55 to 3.80 percent, while retaining about 69 to 71 percent of pure-random global diversity.</a:t>
            </a:r>
          </a:p>
          <a:p xmlns:a="http://schemas.openxmlformats.org/drawingml/2006/main">
            <a:r>
              <a:t/>
            </a:r>
          </a:p>
          <a:p xmlns:a="http://schemas.openxmlformats.org/drawingml/2006/main">
            <a:r>
              <a:t>Pure random defines the diversity reference but pays a very large quality penalty. The conclusion is not 'more randomness is better'; it is 'guided randomness improves exploration efficiently.'</a:t>
            </a:r>
          </a:p>
          <a:p xmlns:a="http://schemas.openxmlformats.org/drawingml/2006/main">
            <a:r>
              <a:t/>
            </a:r>
          </a:p>
          <a:p xmlns:a="http://schemas.openxmlformats.org/drawingml/2006/main">
            <a:r>
              <a:t>Source: report Section 5.6 and Conclusion. The displayed 30% and 70% bars are rounded visual summaries of the reported ranges.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crop uses the current final-comparison grid for set_64_1_35. It shows the three guided methods and pure-random insertion, each with up to six max-min diverse representatives selected from 10,000 constructions.</a:t>
            </a:r>
          </a:p>
          <a:p xmlns:a="http://schemas.openxmlformats.org/drawingml/2006/main">
            <a:r>
              <a:t/>
            </a:r>
          </a:p>
          <a:p xmlns:a="http://schemas.openxmlformats.org/drawingml/2006/main">
            <a:r>
              <a:t>The rows make the qualitative result concrete: guided methods explore substantially different arc structures, while preserving much higher scores than pure random.</a:t>
            </a:r>
          </a:p>
          <a:p xmlns:a="http://schemas.openxmlformats.org/drawingml/2006/main">
            <a:r>
              <a:t/>
            </a:r>
          </a:p>
          <a:p xmlns:a="http://schemas.openxmlformats.org/drawingml/2006/main">
            <a:r>
              <a:t>These grids are diagnostic examples, not the basis for ranking methods. Exact duplicates were merged before the representative extraction.</a:t>
            </a:r>
          </a:p>
          <a:p xmlns:a="http://schemas.openxmlformats.org/drawingml/2006/main">
            <a:r>
              <a:t/>
            </a:r>
          </a:p>
          <a:p xmlns:a="http://schemas.openxmlformats.org/drawingml/2006/main">
            <a:r>
              <a:t>Source: report Section 5.7 and graphs/64_35.png. Portuguese headers were excluded by cropping; the route evidence itself is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three results. Total-envy is the strongest deterministic alternative, at approximately 4.07 percent above marginal-smart. The best guided method reaches about 3.80 percent. Guided methods retain about 69 to 71 percent of pure-random global diversity.</a:t>
            </a:r>
          </a:p>
          <a:p xmlns:a="http://schemas.openxmlformats.org/drawingml/2006/main">
            <a:r>
              <a:t/>
            </a:r>
          </a:p>
          <a:p xmlns:a="http://schemas.openxmlformats.org/drawingml/2006/main">
            <a:r>
              <a:t>The unrestricted random baseline confirms the other side of the trade-off: it is diverse but loses about 44.17 percent in quality.</a:t>
            </a:r>
          </a:p>
          <a:p xmlns:a="http://schemas.openxmlformats.org/drawingml/2006/main">
            <a:r>
              <a:t/>
            </a:r>
          </a:p>
          <a:p xmlns:a="http://schemas.openxmlformats.org/drawingml/2006/main">
            <a:r>
              <a:t>The practical conclusion is to use randomness to broaden structural exploration while keeping a strong score-cost rule in control.</a:t>
            </a:r>
          </a:p>
          <a:p xmlns:a="http://schemas.openxmlformats.org/drawingml/2006/main">
            <a:r>
              <a:t/>
            </a:r>
          </a:p>
          <a:p xmlns:a="http://schemas.openxmlformats.org/drawingml/2006/main">
            <a:r>
              <a:t>Source: report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647060182042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71d11035be48f3" /><Relationship Type="http://schemas.openxmlformats.org/officeDocument/2006/relationships/slideLayout" Target="/ppt/slideLayouts/slideLayout1.xml" Id="Rb312804f34d840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12804f34d840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1914eb9e544483" /><Relationship Type="http://schemas.openxmlformats.org/officeDocument/2006/relationships/image" Target="/ppt/media/image.png" Id="R852fea30c65d4a78" /><Relationship Type="http://schemas.openxmlformats.org/officeDocument/2006/relationships/notesSlide" Target="/ppt/notesSlides/notesSlide1.xml" Id="Rd480d088529349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c0413c3b214041" /><Relationship Type="http://schemas.openxmlformats.org/officeDocument/2006/relationships/notesSlide" Target="/ppt/notesSlides/notesSlide2.xml" Id="Rae4cfdacaeec4e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269da9a7984bf8" /><Relationship Type="http://schemas.openxmlformats.org/officeDocument/2006/relationships/notesSlide" Target="/ppt/notesSlides/notesSlide3.xml" Id="Reb116e0ab16b45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c62c02a63d4818" /><Relationship Type="http://schemas.openxmlformats.org/officeDocument/2006/relationships/notesSlide" Target="/ppt/notesSlides/notesSlide4.xml" Id="Rcd6217d0aa4c47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d3134a83184d7b" /><Relationship Type="http://schemas.openxmlformats.org/officeDocument/2006/relationships/notesSlide" Target="/ppt/notesSlides/notesSlide5.xml" Id="Raa2b4385652743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0056c3f178246fd" /><Relationship Type="http://schemas.openxmlformats.org/officeDocument/2006/relationships/image" Target="/ppt/media/image2.png" Id="R91a18cb7c79341ed" /><Relationship Type="http://schemas.openxmlformats.org/officeDocument/2006/relationships/notesSlide" Target="/ppt/notesSlides/notesSlide6.xml" Id="R72e364230bd849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1931dac1b14b62" /><Relationship Type="http://schemas.openxmlformats.org/officeDocument/2006/relationships/image" Target="/ppt/media/image3.png" Id="Re215f5b9b39041b4" /><Relationship Type="http://schemas.openxmlformats.org/officeDocument/2006/relationships/notesSlide" Target="/ppt/notesSlides/notesSlide7.xml" Id="Rb2fcbcd87b1249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0406065c6e04df7" /><Relationship Type="http://schemas.openxmlformats.org/officeDocument/2006/relationships/image" Target="/ppt/media/image4.png" Id="Re85a08ccf70c4009" /><Relationship Type="http://schemas.openxmlformats.org/officeDocument/2006/relationships/notesSlide" Target="/ppt/notesSlides/notesSlide8.xml" Id="Rf204412fd32749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8bd5f97a9754d28" /><Relationship Type="http://schemas.openxmlformats.org/officeDocument/2006/relationships/image" Target="/ppt/media/image5.png" Id="Rf8e74b5f20ee447b" /><Relationship Type="http://schemas.openxmlformats.org/officeDocument/2006/relationships/notesSlide" Target="/ppt/notesSlides/notesSlide9.xml" Id="R94985fc694334a9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2a6822d7f664fab" /><Relationship Type="http://schemas.openxmlformats.org/officeDocument/2006/relationships/image" Target="/ppt/media/image6.png" Id="Rfa52605c1b1643ef" /><Relationship Type="http://schemas.openxmlformats.org/officeDocument/2006/relationships/notesSlide" Target="/ppt/notesSlides/notesSlide10.xml" Id="R5bc545c7e4fe44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de7d1e106944d3e" /><Relationship Type="http://schemas.openxmlformats.org/officeDocument/2006/relationships/notesSlide" Target="/ppt/notesSlides/notesSlide11.xml" Id="Rf5bd3412c0e249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6e8ac5b54004c2a" /><Relationship Type="http://schemas.openxmlformats.org/officeDocument/2006/relationships/image" Target="/ppt/media/image7.png" Id="R9106f5b534e24c30" /><Relationship Type="http://schemas.openxmlformats.org/officeDocument/2006/relationships/notesSlide" Target="/ppt/notesSlides/notesSlide12.xml" Id="R7712c4ae5976414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519cf11825d46a4" /><Relationship Type="http://schemas.openxmlformats.org/officeDocument/2006/relationships/notesSlide" Target="/ppt/notesSlides/notesSlide13.xml" Id="R342f459a204e430e" /></Relationships>
</file>

<file path=ppt/slides/slide1.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F25DE4-2B64-47AF-B31F-F252C0411D8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E47A3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774259-568A-44B0-BB97-D10B4274C98C}"/>
              </a:ext>
            </a:extLst>
          </p:cNvPr>
          <p:cNvSpPr>
            <a:spLocks xmlns:a="http://schemas.openxmlformats.org/drawingml/2006/main" noGrp="1"/>
          </p:cNvSpPr>
          <p:nvPr/>
        </p:nvSpPr>
        <p:spPr>
          <a:xfrm xmlns:a="http://schemas.openxmlformats.org/drawingml/2006/main">
            <a:off x="666750" y="68580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8FD5CE"/>
                </a:solidFill>
                <a:latin typeface="DejaVu Sans"/>
                <a:ea typeface="DejaVu Sans"/>
                <a:cs typeface="DejaVu Sans"/>
              </a:defRPr>
            </a:pPr>
            <a:r>
              <a:rPr sz="1200" b="1" i="0">
                <a:solidFill>
                  <a:srgbClr val="8FD5CE"/>
                </a:solidFill>
                <a:latin typeface="DejaVu Sans"/>
                <a:ea typeface="DejaVu Sans"/>
                <a:cs typeface="DejaVu Sans"/>
              </a:rPr>
              <a:t>META-HEURISTICS · PROJECT 01</a:t>
            </a:r>
          </a:p>
        </p:txBody>
      </p:sp>
      <p:sp>
        <p:nvSpPr>
          <p:cNvPr id="3" name="">
            <a:extLst xmlns:a="http://schemas.openxmlformats.org/drawingml/2006/main">
              <a:ext uri="{FF2B5EF4-FFF2-40B4-BE49-F238E27FC236}">
                <a16:creationId xmlns:a16="http://schemas.microsoft.com/office/drawing/2014/main" id="{66FEF417-A084-41B3-A47E-FC966BA0F194}"/>
              </a:ext>
            </a:extLst>
          </p:cNvPr>
          <p:cNvSpPr>
            <a:spLocks xmlns:a="http://schemas.openxmlformats.org/drawingml/2006/main" noGrp="1"/>
          </p:cNvSpPr>
          <p:nvPr/>
        </p:nvSpPr>
        <p:spPr>
          <a:xfrm xmlns:a="http://schemas.openxmlformats.org/drawingml/2006/main">
            <a:off x="666750" y="1219200"/>
            <a:ext cx="7239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i="0">
                <a:solidFill>
                  <a:srgbClr val="FFFFFF"/>
                </a:solidFill>
                <a:latin typeface="DejaVu Sans"/>
                <a:ea typeface="DejaVu Sans"/>
                <a:cs typeface="DejaVu Sans"/>
              </a:defRPr>
            </a:pPr>
            <a:r>
              <a:rPr sz="3600" b="1" i="0">
                <a:solidFill>
                  <a:srgbClr val="FFFFFF"/>
                </a:solidFill>
                <a:latin typeface="DejaVu Sans"/>
                <a:ea typeface="DejaVu Sans"/>
                <a:cs typeface="DejaVu Sans"/>
              </a:rPr>
              <a:t>Constructive heuristics</a:t>
            </a:r>
          </a:p>
          <a:p xmlns:a="http://schemas.openxmlformats.org/drawingml/2006/main">
            <a:pPr algn="l">
              <a:lnSpc>
                <a:spcPct val="105000"/>
              </a:lnSpc>
              <a:buNone/>
              <a:defRPr sz="3600" b="1" i="0">
                <a:solidFill>
                  <a:srgbClr val="FFFFFF"/>
                </a:solidFill>
                <a:latin typeface="DejaVu Sans"/>
                <a:ea typeface="DejaVu Sans"/>
                <a:cs typeface="DejaVu Sans"/>
              </a:defRPr>
            </a:pPr>
            <a:r>
              <a:rPr sz="3600" b="1" i="0">
                <a:solidFill>
                  <a:srgbClr val="FFFFFF"/>
                </a:solidFill>
                <a:latin typeface="DejaVu Sans"/>
                <a:ea typeface="DejaVu Sans"/>
                <a:cs typeface="DejaVu Sans"/>
              </a:rPr>
              <a:t>for the Orienteering Problem</a:t>
            </a:r>
          </a:p>
        </p:txBody>
      </p:sp>
      <p:sp>
        <p:nvSpPr>
          <p:cNvPr id="4" name="">
            <a:extLst xmlns:a="http://schemas.openxmlformats.org/drawingml/2006/main">
              <a:ext uri="{FF2B5EF4-FFF2-40B4-BE49-F238E27FC236}">
                <a16:creationId xmlns:a16="http://schemas.microsoft.com/office/drawing/2014/main" id="{27A6CCC5-B43B-4D40-AFD7-A07FAF56112C}"/>
              </a:ext>
            </a:extLst>
          </p:cNvPr>
          <p:cNvSpPr>
            <a:spLocks xmlns:a="http://schemas.openxmlformats.org/drawingml/2006/main" noGrp="1"/>
          </p:cNvSpPr>
          <p:nvPr/>
        </p:nvSpPr>
        <p:spPr>
          <a:xfrm xmlns:a="http://schemas.openxmlformats.org/drawingml/2006/main">
            <a:off x="685800" y="3695700"/>
            <a:ext cx="685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BDD3D7"/>
                </a:solidFill>
                <a:latin typeface="DejaVu Sans"/>
                <a:ea typeface="DejaVu Sans"/>
                <a:cs typeface="DejaVu Sans"/>
              </a:defRPr>
            </a:pPr>
            <a:r>
              <a:rPr sz="1725" b="0" i="0">
                <a:solidFill>
                  <a:srgbClr val="BDD3D7"/>
                </a:solidFill>
                <a:latin typeface="DejaVu Sans"/>
                <a:ea typeface="DejaVu Sans"/>
                <a:cs typeface="DejaVu Sans"/>
              </a:rPr>
              <a:t>Quality, structural diversity, and guided randomization</a:t>
            </a:r>
          </a:p>
        </p:txBody>
      </p:sp>
      <p:sp>
        <p:nvSpPr>
          <p:cNvPr id="5" name="">
            <a:extLst xmlns:a="http://schemas.openxmlformats.org/drawingml/2006/main">
              <a:ext uri="{FF2B5EF4-FFF2-40B4-BE49-F238E27FC236}">
                <a16:creationId xmlns:a16="http://schemas.microsoft.com/office/drawing/2014/main" id="{71F07AB4-6E55-4AA9-8527-8D2E4CBBBDE9}"/>
              </a:ext>
            </a:extLst>
          </p:cNvPr>
          <p:cNvSpPr>
            <a:spLocks xmlns:a="http://schemas.openxmlformats.org/drawingml/2006/main" noGrp="1"/>
          </p:cNvSpPr>
          <p:nvPr/>
        </p:nvSpPr>
        <p:spPr>
          <a:xfrm xmlns:a="http://schemas.openxmlformats.org/drawingml/2006/main">
            <a:off x="8305800" y="1447800"/>
            <a:ext cx="3105150" cy="3752850"/>
          </a:xfrm>
          <a:prstGeom xmlns:a="http://schemas.openxmlformats.org/drawingml/2006/main" prst="roundRect">
            <a:avLst>
              <a:gd name="adj" fmla="val 7362"/>
            </a:avLst>
          </a:prstGeom>
          <a:solidFill xmlns:a="http://schemas.openxmlformats.org/drawingml/2006/main">
            <a:srgbClr val="FFFFFF"/>
          </a:solidFill>
          <a:ln xmlns:a="http://schemas.openxmlformats.org/drawingml/2006/main" w="0">
            <a:no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52fea30c65d4a78"/>
          <a:stretch xmlns:a="http://schemas.openxmlformats.org/drawingml/2006/main"/>
        </p:blipFill>
        <p:spPr>
          <a:xfrm xmlns:a="http://schemas.openxmlformats.org/drawingml/2006/main">
            <a:off x="8620125" y="1774308"/>
            <a:ext cx="2476500" cy="3023634"/>
          </a:xfrm>
          <a:prstGeom xmlns:a="http://schemas.openxmlformats.org/drawingml/2006/main" prst="roundRect">
            <a:avLst>
              <a:gd name="adj" fmla="val 6923"/>
            </a:avLst>
          </a:prstGeom>
        </p:spPr>
      </p:pic>
      <p:sp>
        <p:nvSpPr>
          <p:cNvPr id="7" name="">
            <a:extLst xmlns:a="http://schemas.openxmlformats.org/drawingml/2006/main">
              <a:ext uri="{FF2B5EF4-FFF2-40B4-BE49-F238E27FC236}">
                <a16:creationId xmlns:a16="http://schemas.microsoft.com/office/drawing/2014/main" id="{D03C0C1E-DB9C-43A0-AE3C-71B294026BDB}"/>
              </a:ext>
            </a:extLst>
          </p:cNvPr>
          <p:cNvSpPr>
            <a:spLocks xmlns:a="http://schemas.openxmlformats.org/drawingml/2006/main" noGrp="1"/>
          </p:cNvSpPr>
          <p:nvPr/>
        </p:nvSpPr>
        <p:spPr>
          <a:xfrm xmlns:a="http://schemas.openxmlformats.org/drawingml/2006/main">
            <a:off x="666750" y="61531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BDD3D7"/>
                </a:solidFill>
                <a:latin typeface="DejaVu Sans"/>
                <a:ea typeface="DejaVu Sans"/>
                <a:cs typeface="DejaVu Sans"/>
              </a:defRPr>
            </a:pPr>
            <a:r>
              <a:rPr sz="1350" b="0" i="0">
                <a:solidFill>
                  <a:srgbClr val="BDD3D7"/>
                </a:solidFill>
                <a:latin typeface="DejaVu Sans"/>
                <a:ea typeface="DejaVu Sans"/>
                <a:cs typeface="DejaVu Sans"/>
              </a:rPr>
              <a:t>João Pereira · UFRN · 2026</a:t>
            </a:r>
          </a:p>
        </p:txBody>
      </p:sp>
    </p:spTree>
    <p:extLst>
      <p:ext uri="{BB962C8B-B14F-4D97-AF65-F5344CB8AC3E}">
        <p14:creationId xmlns:p14="http://schemas.microsoft.com/office/powerpoint/2010/main" val="577142106"/>
      </p:ext>
    </p:extLst>
  </p:cSld>
</p:sld>
</file>

<file path=ppt/slides/slide2.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5A9E9AC-4BF7-4FDA-AC5F-EEDBCAA1E66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D80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4E3073-C1B3-48DD-993B-B40600090FB4}"/>
              </a:ext>
            </a:extLst>
          </p:cNvPr>
          <p:cNvSpPr>
            <a:spLocks xmlns:a="http://schemas.openxmlformats.org/drawingml/2006/main" noGrp="1"/>
          </p:cNvSpPr>
          <p:nvPr/>
        </p:nvSpPr>
        <p:spPr>
          <a:xfrm xmlns:a="http://schemas.openxmlformats.org/drawingml/2006/main">
            <a:off x="552450" y="5905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The route is selective by design</a:t>
            </a:r>
          </a:p>
        </p:txBody>
      </p:sp>
      <p:sp>
        <p:nvSpPr>
          <p:cNvPr id="3" name="">
            <a:extLst xmlns:a="http://schemas.openxmlformats.org/drawingml/2006/main">
              <a:ext uri="{FF2B5EF4-FFF2-40B4-BE49-F238E27FC236}">
                <a16:creationId xmlns:a16="http://schemas.microsoft.com/office/drawing/2014/main" id="{721E6A1E-302F-4701-A53D-350F5E5E6D6C}"/>
              </a:ext>
            </a:extLst>
          </p:cNvPr>
          <p:cNvSpPr>
            <a:spLocks xmlns:a="http://schemas.openxmlformats.org/drawingml/2006/main" noGrp="1"/>
          </p:cNvSpPr>
          <p:nvPr/>
        </p:nvSpPr>
        <p:spPr>
          <a:xfrm xmlns:a="http://schemas.openxmlformats.org/drawingml/2006/main">
            <a:off x="113728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i="0">
                <a:solidFill>
                  <a:srgbClr val="5E6B73"/>
                </a:solidFill>
                <a:latin typeface="DejaVu Sans"/>
                <a:ea typeface="DejaVu Sans"/>
                <a:cs typeface="DejaVu Sans"/>
              </a:defRPr>
            </a:pPr>
            <a:r>
              <a:rPr sz="975" b="1" i="0">
                <a:solidFill>
                  <a:srgbClr val="5E6B73"/>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0ED99A20-E4D7-4AB9-9AC0-143688B5617E}"/>
              </a:ext>
            </a:extLst>
          </p:cNvPr>
          <p:cNvSpPr>
            <a:spLocks xmlns:a="http://schemas.openxmlformats.org/drawingml/2006/main" noGrp="1"/>
          </p:cNvSpPr>
          <p:nvPr/>
        </p:nvSpPr>
        <p:spPr>
          <a:xfrm xmlns:a="http://schemas.openxmlformats.org/drawingml/2006/main">
            <a:off x="904875" y="16192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5E6B73"/>
                </a:solidFill>
                <a:latin typeface="DejaVu Sans"/>
                <a:ea typeface="DejaVu Sans"/>
                <a:cs typeface="DejaVu Sans"/>
              </a:defRPr>
            </a:pPr>
            <a:r>
              <a:rPr sz="1800" b="1" i="0">
                <a:solidFill>
                  <a:srgbClr val="5E6B73"/>
                </a:solidFill>
                <a:latin typeface="DejaVu Sans"/>
                <a:ea typeface="DejaVu Sans"/>
                <a:cs typeface="DejaVu Sans"/>
              </a:rPr>
              <a:t>maximize</a:t>
            </a:r>
          </a:p>
        </p:txBody>
      </p:sp>
      <p:sp>
        <p:nvSpPr>
          <p:cNvPr id="5" name="">
            <a:extLst xmlns:a="http://schemas.openxmlformats.org/drawingml/2006/main">
              <a:ext uri="{FF2B5EF4-FFF2-40B4-BE49-F238E27FC236}">
                <a16:creationId xmlns:a16="http://schemas.microsoft.com/office/drawing/2014/main" id="{775C3F68-BC2B-4C0E-AB16-319887F03A5F}"/>
              </a:ext>
            </a:extLst>
          </p:cNvPr>
          <p:cNvSpPr>
            <a:spLocks xmlns:a="http://schemas.openxmlformats.org/drawingml/2006/main" noGrp="1"/>
          </p:cNvSpPr>
          <p:nvPr/>
        </p:nvSpPr>
        <p:spPr>
          <a:xfrm xmlns:a="http://schemas.openxmlformats.org/drawingml/2006/main">
            <a:off x="904875" y="20193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800" b="1" i="0">
                <a:solidFill>
                  <a:srgbClr val="1D8077"/>
                </a:solidFill>
                <a:latin typeface="DejaVu Sans"/>
                <a:ea typeface="DejaVu Sans"/>
                <a:cs typeface="DejaVu Sans"/>
              </a:defRPr>
            </a:pPr>
            <a:r>
              <a:rPr sz="4800" b="1" i="0">
                <a:solidFill>
                  <a:srgbClr val="1D8077"/>
                </a:solidFill>
                <a:latin typeface="DejaVu Sans"/>
                <a:ea typeface="DejaVu Sans"/>
                <a:cs typeface="DejaVu Sans"/>
              </a:rPr>
              <a:t>S(R)</a:t>
            </a:r>
          </a:p>
        </p:txBody>
      </p:sp>
      <p:sp>
        <p:nvSpPr>
          <p:cNvPr id="6" name="">
            <a:extLst xmlns:a="http://schemas.openxmlformats.org/drawingml/2006/main">
              <a:ext uri="{FF2B5EF4-FFF2-40B4-BE49-F238E27FC236}">
                <a16:creationId xmlns:a16="http://schemas.microsoft.com/office/drawing/2014/main" id="{93AD8EBD-38DB-491C-825C-D151462FF172}"/>
              </a:ext>
            </a:extLst>
          </p:cNvPr>
          <p:cNvSpPr>
            <a:spLocks xmlns:a="http://schemas.openxmlformats.org/drawingml/2006/main" noGrp="1"/>
          </p:cNvSpPr>
          <p:nvPr/>
        </p:nvSpPr>
        <p:spPr>
          <a:xfrm xmlns:a="http://schemas.openxmlformats.org/drawingml/2006/main">
            <a:off x="904875" y="32385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5E6B73"/>
                </a:solidFill>
                <a:latin typeface="DejaVu Sans"/>
                <a:ea typeface="DejaVu Sans"/>
                <a:cs typeface="DejaVu Sans"/>
              </a:defRPr>
            </a:pPr>
            <a:r>
              <a:rPr sz="1800" b="1" i="0">
                <a:solidFill>
                  <a:srgbClr val="5E6B73"/>
                </a:solidFill>
                <a:latin typeface="DejaVu Sans"/>
                <a:ea typeface="DejaVu Sans"/>
                <a:cs typeface="DejaVu Sans"/>
              </a:rPr>
              <a:t>subject to</a:t>
            </a:r>
          </a:p>
        </p:txBody>
      </p:sp>
      <p:sp>
        <p:nvSpPr>
          <p:cNvPr id="7" name="">
            <a:extLst xmlns:a="http://schemas.openxmlformats.org/drawingml/2006/main">
              <a:ext uri="{FF2B5EF4-FFF2-40B4-BE49-F238E27FC236}">
                <a16:creationId xmlns:a16="http://schemas.microsoft.com/office/drawing/2014/main" id="{A23A0DEC-B636-4D02-BD97-1DA4029A5F97}"/>
              </a:ext>
            </a:extLst>
          </p:cNvPr>
          <p:cNvSpPr>
            <a:spLocks xmlns:a="http://schemas.openxmlformats.org/drawingml/2006/main" noGrp="1"/>
          </p:cNvSpPr>
          <p:nvPr/>
        </p:nvSpPr>
        <p:spPr>
          <a:xfrm xmlns:a="http://schemas.openxmlformats.org/drawingml/2006/main">
            <a:off x="904875" y="3638550"/>
            <a:ext cx="400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350" b="1" i="0">
                <a:solidFill>
                  <a:srgbClr val="E47A32"/>
                </a:solidFill>
                <a:latin typeface="DejaVu Sans"/>
                <a:ea typeface="DejaVu Sans"/>
                <a:cs typeface="DejaVu Sans"/>
              </a:defRPr>
            </a:pPr>
            <a:r>
              <a:rPr sz="4350" b="1" i="0">
                <a:solidFill>
                  <a:srgbClr val="E47A32"/>
                </a:solidFill>
                <a:latin typeface="DejaVu Sans"/>
                <a:ea typeface="DejaVu Sans"/>
                <a:cs typeface="DejaVu Sans"/>
              </a:rPr>
              <a:t>C(R) ≤ B</a:t>
            </a:r>
          </a:p>
        </p:txBody>
      </p:sp>
      <p:sp>
        <p:nvSpPr>
          <p:cNvPr id="8" name="">
            <a:extLst xmlns:a="http://schemas.openxmlformats.org/drawingml/2006/main">
              <a:ext uri="{FF2B5EF4-FFF2-40B4-BE49-F238E27FC236}">
                <a16:creationId xmlns:a16="http://schemas.microsoft.com/office/drawing/2014/main" id="{A8E0E92D-86FA-43C7-B1D2-1B4383311CB0}"/>
              </a:ext>
            </a:extLst>
          </p:cNvPr>
          <p:cNvSpPr>
            <a:spLocks xmlns:a="http://schemas.openxmlformats.org/drawingml/2006/main" noGrp="1"/>
          </p:cNvSpPr>
          <p:nvPr/>
        </p:nvSpPr>
        <p:spPr>
          <a:xfrm xmlns:a="http://schemas.openxmlformats.org/drawingml/2006/main">
            <a:off x="5715000" y="1924050"/>
            <a:ext cx="5191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s  →  selected vertices  →  t</a:t>
            </a:r>
          </a:p>
        </p:txBody>
      </p:sp>
      <p:sp>
        <p:nvSpPr>
          <p:cNvPr id="9" name="">
            <a:extLst xmlns:a="http://schemas.openxmlformats.org/drawingml/2006/main">
              <a:ext uri="{FF2B5EF4-FFF2-40B4-BE49-F238E27FC236}">
                <a16:creationId xmlns:a16="http://schemas.microsoft.com/office/drawing/2014/main" id="{3F04E65B-6975-4A4C-98C7-F6C792E535E2}"/>
              </a:ext>
            </a:extLst>
          </p:cNvPr>
          <p:cNvSpPr>
            <a:spLocks xmlns:a="http://schemas.openxmlformats.org/drawingml/2006/main" noGrp="1"/>
          </p:cNvSpPr>
          <p:nvPr/>
        </p:nvSpPr>
        <p:spPr>
          <a:xfrm xmlns:a="http://schemas.openxmlformats.org/drawingml/2006/main">
            <a:off x="5715000" y="3028950"/>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1D8077"/>
                </a:solidFill>
                <a:latin typeface="DejaVu Sans"/>
                <a:ea typeface="DejaVu Sans"/>
                <a:cs typeface="DejaVu Sans"/>
              </a:defRPr>
            </a:pPr>
            <a:r>
              <a:rPr sz="1575" b="1" i="0">
                <a:solidFill>
                  <a:srgbClr val="1D8077"/>
                </a:solidFill>
                <a:latin typeface="DejaVu Sans"/>
                <a:ea typeface="DejaVu Sans"/>
                <a:cs typeface="DejaVu Sans"/>
              </a:rPr>
              <a:t>reward</a:t>
            </a:r>
          </a:p>
        </p:txBody>
      </p:sp>
      <p:sp>
        <p:nvSpPr>
          <p:cNvPr id="10" name="">
            <a:extLst xmlns:a="http://schemas.openxmlformats.org/drawingml/2006/main">
              <a:ext uri="{FF2B5EF4-FFF2-40B4-BE49-F238E27FC236}">
                <a16:creationId xmlns:a16="http://schemas.microsoft.com/office/drawing/2014/main" id="{B6E77D6F-DFE5-4361-8054-844CB308E74D}"/>
              </a:ext>
            </a:extLst>
          </p:cNvPr>
          <p:cNvSpPr>
            <a:spLocks xmlns:a="http://schemas.openxmlformats.org/drawingml/2006/main" noGrp="1"/>
          </p:cNvSpPr>
          <p:nvPr/>
        </p:nvSpPr>
        <p:spPr>
          <a:xfrm xmlns:a="http://schemas.openxmlformats.org/drawingml/2006/main">
            <a:off x="7562850" y="3028950"/>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E47A32"/>
                </a:solidFill>
                <a:latin typeface="DejaVu Sans"/>
                <a:ea typeface="DejaVu Sans"/>
                <a:cs typeface="DejaVu Sans"/>
              </a:defRPr>
            </a:pPr>
            <a:r>
              <a:rPr sz="1575" b="1" i="0">
                <a:solidFill>
                  <a:srgbClr val="E47A32"/>
                </a:solidFill>
                <a:latin typeface="DejaVu Sans"/>
                <a:ea typeface="DejaVu Sans"/>
                <a:cs typeface="DejaVu Sans"/>
              </a:rPr>
              <a:t>budget</a:t>
            </a:r>
          </a:p>
        </p:txBody>
      </p:sp>
      <p:sp>
        <p:nvSpPr>
          <p:cNvPr id="11" name="">
            <a:extLst xmlns:a="http://schemas.openxmlformats.org/drawingml/2006/main">
              <a:ext uri="{FF2B5EF4-FFF2-40B4-BE49-F238E27FC236}">
                <a16:creationId xmlns:a16="http://schemas.microsoft.com/office/drawing/2014/main" id="{D7773574-2235-4B07-8149-E16D3B684E07}"/>
              </a:ext>
            </a:extLst>
          </p:cNvPr>
          <p:cNvSpPr>
            <a:spLocks xmlns:a="http://schemas.openxmlformats.org/drawingml/2006/main" noGrp="1"/>
          </p:cNvSpPr>
          <p:nvPr/>
        </p:nvSpPr>
        <p:spPr>
          <a:xfrm xmlns:a="http://schemas.openxmlformats.org/drawingml/2006/main">
            <a:off x="9410700" y="3028950"/>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7458A6"/>
                </a:solidFill>
                <a:latin typeface="DejaVu Sans"/>
                <a:ea typeface="DejaVu Sans"/>
                <a:cs typeface="DejaVu Sans"/>
              </a:defRPr>
            </a:pPr>
            <a:r>
              <a:rPr sz="1575" b="1" i="0">
                <a:solidFill>
                  <a:srgbClr val="7458A6"/>
                </a:solidFill>
                <a:latin typeface="DejaVu Sans"/>
                <a:ea typeface="DejaVu Sans"/>
                <a:cs typeface="DejaVu Sans"/>
              </a:rPr>
              <a:t>no repeats</a:t>
            </a:r>
          </a:p>
        </p:txBody>
      </p:sp>
      <p:sp>
        <p:nvSpPr>
          <p:cNvPr id="12" name="">
            <a:extLst xmlns:a="http://schemas.openxmlformats.org/drawingml/2006/main">
              <a:ext uri="{FF2B5EF4-FFF2-40B4-BE49-F238E27FC236}">
                <a16:creationId xmlns:a16="http://schemas.microsoft.com/office/drawing/2014/main" id="{41A4CB59-F839-4563-981D-04886B5C73EF}"/>
              </a:ext>
            </a:extLst>
          </p:cNvPr>
          <p:cNvSpPr>
            <a:spLocks xmlns:a="http://schemas.openxmlformats.org/drawingml/2006/main" noGrp="1"/>
          </p:cNvSpPr>
          <p:nvPr/>
        </p:nvSpPr>
        <p:spPr>
          <a:xfrm xmlns:a="http://schemas.openxmlformats.org/drawingml/2006/main">
            <a:off x="5715000" y="4048125"/>
            <a:ext cx="5219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102B3A"/>
                </a:solidFill>
                <a:latin typeface="DejaVu Sans"/>
                <a:ea typeface="DejaVu Sans"/>
                <a:cs typeface="DejaVu Sans"/>
              </a:defRPr>
            </a:pPr>
            <a:r>
              <a:rPr sz="3600" b="1" i="0">
                <a:solidFill>
                  <a:srgbClr val="102B3A"/>
                </a:solidFill>
                <a:latin typeface="DejaVu Sans"/>
                <a:ea typeface="DejaVu Sans"/>
                <a:cs typeface="DejaVu Sans"/>
              </a:rPr>
              <a:t>NP-hard</a:t>
            </a:r>
          </a:p>
        </p:txBody>
      </p:sp>
      <p:sp>
        <p:nvSpPr>
          <p:cNvPr id="13" name="">
            <a:extLst xmlns:a="http://schemas.openxmlformats.org/drawingml/2006/main">
              <a:ext uri="{FF2B5EF4-FFF2-40B4-BE49-F238E27FC236}">
                <a16:creationId xmlns:a16="http://schemas.microsoft.com/office/drawing/2014/main" id="{F8E19C9F-3900-4ED1-9511-05263FFD808B}"/>
              </a:ext>
            </a:extLst>
          </p:cNvPr>
          <p:cNvSpPr>
            <a:spLocks xmlns:a="http://schemas.openxmlformats.org/drawingml/2006/main" noGrp="1"/>
          </p:cNvSpPr>
          <p:nvPr/>
        </p:nvSpPr>
        <p:spPr>
          <a:xfrm xmlns:a="http://schemas.openxmlformats.org/drawingml/2006/main">
            <a:off x="5715000" y="4762500"/>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i="0">
                <a:solidFill>
                  <a:srgbClr val="5E6B73"/>
                </a:solidFill>
                <a:latin typeface="DejaVu Sans"/>
                <a:ea typeface="DejaVu Sans"/>
                <a:cs typeface="DejaVu Sans"/>
              </a:defRPr>
            </a:pPr>
            <a:r>
              <a:rPr sz="1650" b="0" i="0">
                <a:solidFill>
                  <a:srgbClr val="5E6B73"/>
                </a:solidFill>
                <a:latin typeface="DejaVu Sans"/>
                <a:ea typeface="DejaVu Sans"/>
                <a:cs typeface="DejaVu Sans"/>
              </a:rPr>
              <a:t>Fast feasible solutions matter.</a:t>
            </a:r>
          </a:p>
        </p:txBody>
      </p:sp>
    </p:spTree>
    <p:extLst>
      <p:ext uri="{BB962C8B-B14F-4D97-AF65-F5344CB8AC3E}">
        <p14:creationId xmlns:p14="http://schemas.microsoft.com/office/powerpoint/2010/main" val="1226938044"/>
      </p:ext>
    </p:extLst>
  </p:cSld>
</p:sld>
</file>

<file path=ppt/slides/slide3.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8AD6821-DF06-4DA7-B6ED-EAF36A3CC13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D80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190EA0-A41D-4C89-AADC-1C90FDD75821}"/>
              </a:ext>
            </a:extLst>
          </p:cNvPr>
          <p:cNvSpPr>
            <a:spLocks xmlns:a="http://schemas.openxmlformats.org/drawingml/2006/main" noGrp="1"/>
          </p:cNvSpPr>
          <p:nvPr/>
        </p:nvSpPr>
        <p:spPr>
          <a:xfrm xmlns:a="http://schemas.openxmlformats.org/drawingml/2006/main">
            <a:off x="552450" y="5905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Every method changes only one decision</a:t>
            </a:r>
          </a:p>
        </p:txBody>
      </p:sp>
      <p:sp>
        <p:nvSpPr>
          <p:cNvPr id="3" name="">
            <a:extLst xmlns:a="http://schemas.openxmlformats.org/drawingml/2006/main">
              <a:ext uri="{FF2B5EF4-FFF2-40B4-BE49-F238E27FC236}">
                <a16:creationId xmlns:a16="http://schemas.microsoft.com/office/drawing/2014/main" id="{8665552E-2B02-4CAC-AEA9-22F586019704}"/>
              </a:ext>
            </a:extLst>
          </p:cNvPr>
          <p:cNvSpPr>
            <a:spLocks xmlns:a="http://schemas.openxmlformats.org/drawingml/2006/main" noGrp="1"/>
          </p:cNvSpPr>
          <p:nvPr/>
        </p:nvSpPr>
        <p:spPr>
          <a:xfrm xmlns:a="http://schemas.openxmlformats.org/drawingml/2006/main">
            <a:off x="113728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i="0">
                <a:solidFill>
                  <a:srgbClr val="5E6B73"/>
                </a:solidFill>
                <a:latin typeface="DejaVu Sans"/>
                <a:ea typeface="DejaVu Sans"/>
                <a:cs typeface="DejaVu Sans"/>
              </a:defRPr>
            </a:pPr>
            <a:r>
              <a:rPr sz="975" b="1" i="0">
                <a:solidFill>
                  <a:srgbClr val="5E6B73"/>
                </a:solidFill>
                <a:latin typeface="DejaVu Sans"/>
                <a:ea typeface="DejaVu Sans"/>
                <a:cs typeface="DejaVu Sans"/>
              </a:rPr>
              <a:t>03</a:t>
            </a:r>
          </a:p>
        </p:txBody>
      </p:sp>
      <p:sp>
        <p:nvSpPr>
          <p:cNvPr id="4" name="">
            <a:extLst xmlns:a="http://schemas.openxmlformats.org/drawingml/2006/main">
              <a:ext uri="{FF2B5EF4-FFF2-40B4-BE49-F238E27FC236}">
                <a16:creationId xmlns:a16="http://schemas.microsoft.com/office/drawing/2014/main" id="{184F9BF1-86E2-4F03-9A61-11F9E3B74B69}"/>
              </a:ext>
            </a:extLst>
          </p:cNvPr>
          <p:cNvSpPr>
            <a:spLocks xmlns:a="http://schemas.openxmlformats.org/drawingml/2006/main" noGrp="1"/>
          </p:cNvSpPr>
          <p:nvPr/>
        </p:nvSpPr>
        <p:spPr>
          <a:xfrm xmlns:a="http://schemas.openxmlformats.org/drawingml/2006/main">
            <a:off x="800100" y="1619250"/>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1D8077"/>
                </a:solidFill>
                <a:latin typeface="DejaVu Sans"/>
                <a:ea typeface="DejaVu Sans"/>
                <a:cs typeface="DejaVu Sans"/>
              </a:defRPr>
            </a:pPr>
            <a:r>
              <a:rPr sz="3150" b="1" i="0">
                <a:solidFill>
                  <a:srgbClr val="1D8077"/>
                </a:solidFill>
                <a:latin typeface="DejaVu Sans"/>
                <a:ea typeface="DejaVu Sans"/>
                <a:cs typeface="DejaVu Sans"/>
              </a:rPr>
              <a:t>ΔS(u) = pᵤ</a:t>
            </a:r>
          </a:p>
        </p:txBody>
      </p:sp>
      <p:sp>
        <p:nvSpPr>
          <p:cNvPr id="5" name="">
            <a:extLst xmlns:a="http://schemas.openxmlformats.org/drawingml/2006/main">
              <a:ext uri="{FF2B5EF4-FFF2-40B4-BE49-F238E27FC236}">
                <a16:creationId xmlns:a16="http://schemas.microsoft.com/office/drawing/2014/main" id="{6C5504F5-54F6-4A5A-98AC-30E8A3AB2BE8}"/>
              </a:ext>
            </a:extLst>
          </p:cNvPr>
          <p:cNvSpPr>
            <a:spLocks xmlns:a="http://schemas.openxmlformats.org/drawingml/2006/main" noGrp="1"/>
          </p:cNvSpPr>
          <p:nvPr/>
        </p:nvSpPr>
        <p:spPr>
          <a:xfrm xmlns:a="http://schemas.openxmlformats.org/drawingml/2006/main">
            <a:off x="800100" y="240030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625" b="1" i="0">
                <a:solidFill>
                  <a:srgbClr val="E47A32"/>
                </a:solidFill>
                <a:latin typeface="DejaVu Sans"/>
                <a:ea typeface="DejaVu Sans"/>
                <a:cs typeface="DejaVu Sans"/>
              </a:defRPr>
            </a:pPr>
            <a:r>
              <a:rPr sz="2625" b="1" i="0">
                <a:solidFill>
                  <a:srgbClr val="E47A32"/>
                </a:solidFill>
                <a:latin typeface="DejaVu Sans"/>
                <a:ea typeface="DejaVu Sans"/>
                <a:cs typeface="DejaVu Sans"/>
              </a:rPr>
              <a:t>ΔC(i,u,j) = cᵢᵤ + cᵤⱼ − cᵢⱼ</a:t>
            </a:r>
          </a:p>
        </p:txBody>
      </p:sp>
      <p:sp>
        <p:nvSpPr>
          <p:cNvPr id="6" name="">
            <a:extLst xmlns:a="http://schemas.openxmlformats.org/drawingml/2006/main">
              <a:ext uri="{FF2B5EF4-FFF2-40B4-BE49-F238E27FC236}">
                <a16:creationId xmlns:a16="http://schemas.microsoft.com/office/drawing/2014/main" id="{D5AFD285-1123-43B5-B847-B2E1A32C5F09}"/>
              </a:ext>
            </a:extLst>
          </p:cNvPr>
          <p:cNvSpPr>
            <a:spLocks xmlns:a="http://schemas.openxmlformats.org/drawingml/2006/main" noGrp="1"/>
          </p:cNvSpPr>
          <p:nvPr/>
        </p:nvSpPr>
        <p:spPr>
          <a:xfrm xmlns:a="http://schemas.openxmlformats.org/drawingml/2006/main">
            <a:off x="800100" y="335280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i="0">
                <a:solidFill>
                  <a:srgbClr val="102B3A"/>
                </a:solidFill>
                <a:latin typeface="DejaVu Sans"/>
                <a:ea typeface="DejaVu Sans"/>
                <a:cs typeface="DejaVu Sans"/>
              </a:defRPr>
            </a:pPr>
            <a:r>
              <a:rPr sz="1950" b="0" i="0">
                <a:solidFill>
                  <a:srgbClr val="102B3A"/>
                </a:solidFill>
                <a:latin typeface="DejaVu Sans"/>
                <a:ea typeface="DejaVu Sans"/>
                <a:cs typeface="DejaVu Sans"/>
              </a:rPr>
              <a:t>feasible  ⇔  C(R) + ΔC ≤ B</a:t>
            </a:r>
          </a:p>
        </p:txBody>
      </p:sp>
      <p:sp>
        <p:nvSpPr>
          <p:cNvPr id="7" name="">
            <a:extLst xmlns:a="http://schemas.openxmlformats.org/drawingml/2006/main">
              <a:ext uri="{FF2B5EF4-FFF2-40B4-BE49-F238E27FC236}">
                <a16:creationId xmlns:a16="http://schemas.microsoft.com/office/drawing/2014/main" id="{00035DA6-B98B-419B-A1D0-4E04D8A73DA9}"/>
              </a:ext>
            </a:extLst>
          </p:cNvPr>
          <p:cNvSpPr>
            <a:spLocks xmlns:a="http://schemas.openxmlformats.org/drawingml/2006/main" noGrp="1"/>
          </p:cNvSpPr>
          <p:nvPr/>
        </p:nvSpPr>
        <p:spPr>
          <a:xfrm xmlns:a="http://schemas.openxmlformats.org/drawingml/2006/main">
            <a:off x="6572250" y="14668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1D8077"/>
                </a:solidFill>
                <a:latin typeface="DejaVu Sans"/>
                <a:ea typeface="DejaVu Sans"/>
                <a:cs typeface="DejaVu Sans"/>
              </a:defRPr>
            </a:pPr>
            <a:r>
              <a:rPr sz="2250" b="1" i="0">
                <a:solidFill>
                  <a:srgbClr val="1D8077"/>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A261346C-AFA0-4968-910D-81E45921DC41}"/>
              </a:ext>
            </a:extLst>
          </p:cNvPr>
          <p:cNvSpPr>
            <a:spLocks xmlns:a="http://schemas.openxmlformats.org/drawingml/2006/main" noGrp="1"/>
          </p:cNvSpPr>
          <p:nvPr/>
        </p:nvSpPr>
        <p:spPr>
          <a:xfrm xmlns:a="http://schemas.openxmlformats.org/drawingml/2006/main">
            <a:off x="7334250" y="1514475"/>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102B3A"/>
                </a:solidFill>
                <a:latin typeface="DejaVu Sans"/>
                <a:ea typeface="DejaVu Sans"/>
                <a:cs typeface="DejaVu Sans"/>
              </a:defRPr>
            </a:pPr>
            <a:r>
              <a:rPr sz="2250" b="1" i="0">
                <a:solidFill>
                  <a:srgbClr val="102B3A"/>
                </a:solidFill>
                <a:latin typeface="DejaVu Sans"/>
                <a:ea typeface="DejaVu Sans"/>
                <a:cs typeface="DejaVu Sans"/>
              </a:rPr>
              <a:t>enumerate</a:t>
            </a:r>
          </a:p>
        </p:txBody>
      </p:sp>
      <p:sp>
        <p:nvSpPr>
          <p:cNvPr id="9" name="">
            <a:extLst xmlns:a="http://schemas.openxmlformats.org/drawingml/2006/main">
              <a:ext uri="{FF2B5EF4-FFF2-40B4-BE49-F238E27FC236}">
                <a16:creationId xmlns:a16="http://schemas.microsoft.com/office/drawing/2014/main" id="{F2E1713E-E825-4155-9F33-13993DAA3C99}"/>
              </a:ext>
            </a:extLst>
          </p:cNvPr>
          <p:cNvSpPr>
            <a:spLocks xmlns:a="http://schemas.openxmlformats.org/drawingml/2006/main" noGrp="1"/>
          </p:cNvSpPr>
          <p:nvPr/>
        </p:nvSpPr>
        <p:spPr>
          <a:xfrm xmlns:a="http://schemas.openxmlformats.org/drawingml/2006/main">
            <a:off x="6572250" y="243840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E47A32"/>
                </a:solidFill>
                <a:latin typeface="DejaVu Sans"/>
                <a:ea typeface="DejaVu Sans"/>
                <a:cs typeface="DejaVu Sans"/>
              </a:defRPr>
            </a:pPr>
            <a:r>
              <a:rPr sz="2250" b="1" i="0">
                <a:solidFill>
                  <a:srgbClr val="E47A32"/>
                </a:solidFill>
                <a:latin typeface="DejaVu Sans"/>
                <a:ea typeface="DejaVu Sans"/>
                <a:cs typeface="DejaVu Sans"/>
              </a:rPr>
              <a:t>2</a:t>
            </a:r>
          </a:p>
        </p:txBody>
      </p:sp>
      <p:sp>
        <p:nvSpPr>
          <p:cNvPr id="10" name="">
            <a:extLst xmlns:a="http://schemas.openxmlformats.org/drawingml/2006/main">
              <a:ext uri="{FF2B5EF4-FFF2-40B4-BE49-F238E27FC236}">
                <a16:creationId xmlns:a16="http://schemas.microsoft.com/office/drawing/2014/main" id="{9340B8B9-687F-4FF9-83EF-2867995ED0EB}"/>
              </a:ext>
            </a:extLst>
          </p:cNvPr>
          <p:cNvSpPr>
            <a:spLocks xmlns:a="http://schemas.openxmlformats.org/drawingml/2006/main" noGrp="1"/>
          </p:cNvSpPr>
          <p:nvPr/>
        </p:nvSpPr>
        <p:spPr>
          <a:xfrm xmlns:a="http://schemas.openxmlformats.org/drawingml/2006/main">
            <a:off x="7334250" y="2486025"/>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102B3A"/>
                </a:solidFill>
                <a:latin typeface="DejaVu Sans"/>
                <a:ea typeface="DejaVu Sans"/>
                <a:cs typeface="DejaVu Sans"/>
              </a:defRPr>
            </a:pPr>
            <a:r>
              <a:rPr sz="2250" b="1" i="0">
                <a:solidFill>
                  <a:srgbClr val="102B3A"/>
                </a:solidFill>
                <a:latin typeface="DejaVu Sans"/>
                <a:ea typeface="DejaVu Sans"/>
                <a:cs typeface="DejaVu Sans"/>
              </a:rPr>
              <a:t>score</a:t>
            </a:r>
          </a:p>
        </p:txBody>
      </p:sp>
      <p:sp>
        <p:nvSpPr>
          <p:cNvPr id="11" name="">
            <a:extLst xmlns:a="http://schemas.openxmlformats.org/drawingml/2006/main">
              <a:ext uri="{FF2B5EF4-FFF2-40B4-BE49-F238E27FC236}">
                <a16:creationId xmlns:a16="http://schemas.microsoft.com/office/drawing/2014/main" id="{45A0A894-C870-40FC-9E13-94CEA996703D}"/>
              </a:ext>
            </a:extLst>
          </p:cNvPr>
          <p:cNvSpPr>
            <a:spLocks xmlns:a="http://schemas.openxmlformats.org/drawingml/2006/main" noGrp="1"/>
          </p:cNvSpPr>
          <p:nvPr/>
        </p:nvSpPr>
        <p:spPr>
          <a:xfrm xmlns:a="http://schemas.openxmlformats.org/drawingml/2006/main">
            <a:off x="6572250" y="34099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1D8077"/>
                </a:solidFill>
                <a:latin typeface="DejaVu Sans"/>
                <a:ea typeface="DejaVu Sans"/>
                <a:cs typeface="DejaVu Sans"/>
              </a:defRPr>
            </a:pPr>
            <a:r>
              <a:rPr sz="2250" b="1" i="0">
                <a:solidFill>
                  <a:srgbClr val="1D8077"/>
                </a:solidFill>
                <a:latin typeface="DejaVu Sans"/>
                <a:ea typeface="DejaVu Sans"/>
                <a:cs typeface="DejaVu Sans"/>
              </a:rPr>
              <a:t>3</a:t>
            </a:r>
          </a:p>
        </p:txBody>
      </p:sp>
      <p:sp>
        <p:nvSpPr>
          <p:cNvPr id="12" name="">
            <a:extLst xmlns:a="http://schemas.openxmlformats.org/drawingml/2006/main">
              <a:ext uri="{FF2B5EF4-FFF2-40B4-BE49-F238E27FC236}">
                <a16:creationId xmlns:a16="http://schemas.microsoft.com/office/drawing/2014/main" id="{C095B30F-119B-4C0F-B8C4-1746CFC14711}"/>
              </a:ext>
            </a:extLst>
          </p:cNvPr>
          <p:cNvSpPr>
            <a:spLocks xmlns:a="http://schemas.openxmlformats.org/drawingml/2006/main" noGrp="1"/>
          </p:cNvSpPr>
          <p:nvPr/>
        </p:nvSpPr>
        <p:spPr>
          <a:xfrm xmlns:a="http://schemas.openxmlformats.org/drawingml/2006/main">
            <a:off x="7334250" y="3457575"/>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102B3A"/>
                </a:solidFill>
                <a:latin typeface="DejaVu Sans"/>
                <a:ea typeface="DejaVu Sans"/>
                <a:cs typeface="DejaVu Sans"/>
              </a:defRPr>
            </a:pPr>
            <a:r>
              <a:rPr sz="2250" b="1" i="0">
                <a:solidFill>
                  <a:srgbClr val="102B3A"/>
                </a:solidFill>
                <a:latin typeface="DejaVu Sans"/>
                <a:ea typeface="DejaVu Sans"/>
                <a:cs typeface="DejaVu Sans"/>
              </a:rPr>
              <a:t>insert</a:t>
            </a:r>
          </a:p>
        </p:txBody>
      </p:sp>
      <p:sp>
        <p:nvSpPr>
          <p:cNvPr id="13" name="">
            <a:extLst xmlns:a="http://schemas.openxmlformats.org/drawingml/2006/main">
              <a:ext uri="{FF2B5EF4-FFF2-40B4-BE49-F238E27FC236}">
                <a16:creationId xmlns:a16="http://schemas.microsoft.com/office/drawing/2014/main" id="{29D0B70E-0348-4464-A4E5-604C4B75D94A}"/>
              </a:ext>
            </a:extLst>
          </p:cNvPr>
          <p:cNvSpPr>
            <a:spLocks xmlns:a="http://schemas.openxmlformats.org/drawingml/2006/main" noGrp="1"/>
          </p:cNvSpPr>
          <p:nvPr/>
        </p:nvSpPr>
        <p:spPr>
          <a:xfrm xmlns:a="http://schemas.openxmlformats.org/drawingml/2006/main">
            <a:off x="6572250" y="438150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1D8077"/>
                </a:solidFill>
                <a:latin typeface="DejaVu Sans"/>
                <a:ea typeface="DejaVu Sans"/>
                <a:cs typeface="DejaVu Sans"/>
              </a:defRPr>
            </a:pPr>
            <a:r>
              <a:rPr sz="2250" b="1" i="0">
                <a:solidFill>
                  <a:srgbClr val="1D8077"/>
                </a:solidFill>
                <a:latin typeface="DejaVu Sans"/>
                <a:ea typeface="DejaVu Sans"/>
                <a:cs typeface="DejaVu Sans"/>
              </a:rPr>
              <a:t>4</a:t>
            </a:r>
          </a:p>
        </p:txBody>
      </p:sp>
      <p:sp>
        <p:nvSpPr>
          <p:cNvPr id="14" name="">
            <a:extLst xmlns:a="http://schemas.openxmlformats.org/drawingml/2006/main">
              <a:ext uri="{FF2B5EF4-FFF2-40B4-BE49-F238E27FC236}">
                <a16:creationId xmlns:a16="http://schemas.microsoft.com/office/drawing/2014/main" id="{B82FCD1A-FE4F-40F0-B2CA-4AD858EB90A8}"/>
              </a:ext>
            </a:extLst>
          </p:cNvPr>
          <p:cNvSpPr>
            <a:spLocks xmlns:a="http://schemas.openxmlformats.org/drawingml/2006/main" noGrp="1"/>
          </p:cNvSpPr>
          <p:nvPr/>
        </p:nvSpPr>
        <p:spPr>
          <a:xfrm xmlns:a="http://schemas.openxmlformats.org/drawingml/2006/main">
            <a:off x="7334250" y="4429125"/>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102B3A"/>
                </a:solidFill>
                <a:latin typeface="DejaVu Sans"/>
                <a:ea typeface="DejaVu Sans"/>
                <a:cs typeface="DejaVu Sans"/>
              </a:defRPr>
            </a:pPr>
            <a:r>
              <a:rPr sz="2250" b="1" i="0">
                <a:solidFill>
                  <a:srgbClr val="102B3A"/>
                </a:solidFill>
                <a:latin typeface="DejaVu Sans"/>
                <a:ea typeface="DejaVu Sans"/>
                <a:cs typeface="DejaVu Sans"/>
              </a:rPr>
              <a:t>repeat</a:t>
            </a:r>
          </a:p>
        </p:txBody>
      </p:sp>
      <p:sp>
        <p:nvSpPr>
          <p:cNvPr id="15" name="">
            <a:extLst xmlns:a="http://schemas.openxmlformats.org/drawingml/2006/main">
              <a:ext uri="{FF2B5EF4-FFF2-40B4-BE49-F238E27FC236}">
                <a16:creationId xmlns:a16="http://schemas.microsoft.com/office/drawing/2014/main" id="{8BEDC73D-D48F-4F50-B848-16B8497638D6}"/>
              </a:ext>
            </a:extLst>
          </p:cNvPr>
          <p:cNvSpPr>
            <a:spLocks xmlns:a="http://schemas.openxmlformats.org/drawingml/2006/main" noGrp="1"/>
          </p:cNvSpPr>
          <p:nvPr/>
        </p:nvSpPr>
        <p:spPr>
          <a:xfrm xmlns:a="http://schemas.openxmlformats.org/drawingml/2006/main">
            <a:off x="800100" y="5381625"/>
            <a:ext cx="981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102B3A"/>
                </a:solidFill>
                <a:latin typeface="DejaVu Sans"/>
                <a:ea typeface="DejaVu Sans"/>
                <a:cs typeface="DejaVu Sans"/>
              </a:defRPr>
            </a:pPr>
            <a:r>
              <a:rPr sz="2100" b="1" i="0">
                <a:solidFill>
                  <a:srgbClr val="102B3A"/>
                </a:solidFill>
                <a:latin typeface="DejaVu Sans"/>
                <a:ea typeface="DejaVu Sans"/>
                <a:cs typeface="DejaVu Sans"/>
              </a:rPr>
              <a:t>Same candidates. Same feasibility. Different selector.</a:t>
            </a:r>
          </a:p>
        </p:txBody>
      </p:sp>
    </p:spTree>
    <p:extLst>
      <p:ext uri="{BB962C8B-B14F-4D97-AF65-F5344CB8AC3E}">
        <p14:creationId xmlns:p14="http://schemas.microsoft.com/office/powerpoint/2010/main" val="1271665984"/>
      </p:ext>
    </p:extLst>
  </p:cSld>
</p:sld>
</file>

<file path=ppt/slides/slide4.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A92DD10-62AD-43EC-9377-3E71DEF369F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D80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7C1F7A-96F5-4C56-B6D6-E826061FBB44}"/>
              </a:ext>
            </a:extLst>
          </p:cNvPr>
          <p:cNvSpPr>
            <a:spLocks xmlns:a="http://schemas.openxmlformats.org/drawingml/2006/main" noGrp="1"/>
          </p:cNvSpPr>
          <p:nvPr/>
        </p:nvSpPr>
        <p:spPr>
          <a:xfrm xmlns:a="http://schemas.openxmlformats.org/drawingml/2006/main">
            <a:off x="552450" y="5905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The selection rule is the experiment</a:t>
            </a:r>
          </a:p>
        </p:txBody>
      </p:sp>
      <p:sp>
        <p:nvSpPr>
          <p:cNvPr id="3" name="">
            <a:extLst xmlns:a="http://schemas.openxmlformats.org/drawingml/2006/main">
              <a:ext uri="{FF2B5EF4-FFF2-40B4-BE49-F238E27FC236}">
                <a16:creationId xmlns:a16="http://schemas.microsoft.com/office/drawing/2014/main" id="{DB6B529E-D68A-471B-8556-AEA0DE22433C}"/>
              </a:ext>
            </a:extLst>
          </p:cNvPr>
          <p:cNvSpPr>
            <a:spLocks xmlns:a="http://schemas.openxmlformats.org/drawingml/2006/main" noGrp="1"/>
          </p:cNvSpPr>
          <p:nvPr/>
        </p:nvSpPr>
        <p:spPr>
          <a:xfrm xmlns:a="http://schemas.openxmlformats.org/drawingml/2006/main">
            <a:off x="113728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i="0">
                <a:solidFill>
                  <a:srgbClr val="5E6B73"/>
                </a:solidFill>
                <a:latin typeface="DejaVu Sans"/>
                <a:ea typeface="DejaVu Sans"/>
                <a:cs typeface="DejaVu Sans"/>
              </a:defRPr>
            </a:pPr>
            <a:r>
              <a:rPr sz="975" b="1" i="0">
                <a:solidFill>
                  <a:srgbClr val="5E6B73"/>
                </a:solidFill>
                <a:latin typeface="DejaVu Sans"/>
                <a:ea typeface="DejaVu Sans"/>
                <a:cs typeface="DejaVu Sans"/>
              </a:rPr>
              <a:t>04</a:t>
            </a:r>
          </a:p>
        </p:txBody>
      </p:sp>
      <p:sp>
        <p:nvSpPr>
          <p:cNvPr id="4" name="">
            <a:extLst xmlns:a="http://schemas.openxmlformats.org/drawingml/2006/main">
              <a:ext uri="{FF2B5EF4-FFF2-40B4-BE49-F238E27FC236}">
                <a16:creationId xmlns:a16="http://schemas.microsoft.com/office/drawing/2014/main" id="{DF6923AB-FEFD-47D5-A763-D6A54316514B}"/>
              </a:ext>
            </a:extLst>
          </p:cNvPr>
          <p:cNvSpPr>
            <a:spLocks xmlns:a="http://schemas.openxmlformats.org/drawingml/2006/main" noGrp="1"/>
          </p:cNvSpPr>
          <p:nvPr/>
        </p:nvSpPr>
        <p:spPr>
          <a:xfrm xmlns:a="http://schemas.openxmlformats.org/drawingml/2006/main">
            <a:off x="666750" y="171450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2679A8"/>
                </a:solidFill>
                <a:latin typeface="DejaVu Sans"/>
                <a:ea typeface="DejaVu Sans"/>
                <a:cs typeface="DejaVu Sans"/>
              </a:defRPr>
            </a:pPr>
            <a:r>
              <a:rPr sz="1800" b="1" i="0">
                <a:solidFill>
                  <a:srgbClr val="2679A8"/>
                </a:solidFill>
                <a:latin typeface="DejaVu Sans"/>
                <a:ea typeface="DejaVu Sans"/>
                <a:cs typeface="DejaVu Sans"/>
              </a:rPr>
              <a:t>greedy</a:t>
            </a:r>
          </a:p>
        </p:txBody>
      </p:sp>
      <p:sp>
        <p:nvSpPr>
          <p:cNvPr id="5" name="">
            <a:extLst xmlns:a="http://schemas.openxmlformats.org/drawingml/2006/main">
              <a:ext uri="{FF2B5EF4-FFF2-40B4-BE49-F238E27FC236}">
                <a16:creationId xmlns:a16="http://schemas.microsoft.com/office/drawing/2014/main" id="{0C2D1FC1-E39B-4C5B-8AC2-B76850873862}"/>
              </a:ext>
            </a:extLst>
          </p:cNvPr>
          <p:cNvSpPr>
            <a:spLocks xmlns:a="http://schemas.openxmlformats.org/drawingml/2006/main" noGrp="1"/>
          </p:cNvSpPr>
          <p:nvPr/>
        </p:nvSpPr>
        <p:spPr>
          <a:xfrm xmlns:a="http://schemas.openxmlformats.org/drawingml/2006/main">
            <a:off x="666750" y="2362200"/>
            <a:ext cx="1809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ΔS</a:t>
            </a:r>
          </a:p>
        </p:txBody>
      </p:sp>
      <p:sp>
        <p:nvSpPr>
          <p:cNvPr id="6" name="">
            <a:extLst xmlns:a="http://schemas.openxmlformats.org/drawingml/2006/main">
              <a:ext uri="{FF2B5EF4-FFF2-40B4-BE49-F238E27FC236}">
                <a16:creationId xmlns:a16="http://schemas.microsoft.com/office/drawing/2014/main" id="{92417519-6462-47F6-8E3D-5C36AFB680E3}"/>
              </a:ext>
            </a:extLst>
          </p:cNvPr>
          <p:cNvSpPr>
            <a:spLocks xmlns:a="http://schemas.openxmlformats.org/drawingml/2006/main" noGrp="1"/>
          </p:cNvSpPr>
          <p:nvPr/>
        </p:nvSpPr>
        <p:spPr>
          <a:xfrm xmlns:a="http://schemas.openxmlformats.org/drawingml/2006/main">
            <a:off x="2914650" y="171450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5E6B73"/>
                </a:solidFill>
                <a:latin typeface="DejaVu Sans"/>
                <a:ea typeface="DejaVu Sans"/>
                <a:cs typeface="DejaVu Sans"/>
              </a:defRPr>
            </a:pPr>
            <a:r>
              <a:rPr sz="1800" b="1" i="0">
                <a:solidFill>
                  <a:srgbClr val="5E6B73"/>
                </a:solidFill>
                <a:latin typeface="DejaVu Sans"/>
                <a:ea typeface="DejaVu Sans"/>
                <a:cs typeface="DejaVu Sans"/>
              </a:rPr>
              <a:t>lazy</a:t>
            </a:r>
          </a:p>
        </p:txBody>
      </p:sp>
      <p:sp>
        <p:nvSpPr>
          <p:cNvPr id="7" name="">
            <a:extLst xmlns:a="http://schemas.openxmlformats.org/drawingml/2006/main">
              <a:ext uri="{FF2B5EF4-FFF2-40B4-BE49-F238E27FC236}">
                <a16:creationId xmlns:a16="http://schemas.microsoft.com/office/drawing/2014/main" id="{0BB27042-E396-4804-861A-FE3899B60A20}"/>
              </a:ext>
            </a:extLst>
          </p:cNvPr>
          <p:cNvSpPr>
            <a:spLocks xmlns:a="http://schemas.openxmlformats.org/drawingml/2006/main" noGrp="1"/>
          </p:cNvSpPr>
          <p:nvPr/>
        </p:nvSpPr>
        <p:spPr>
          <a:xfrm xmlns:a="http://schemas.openxmlformats.org/drawingml/2006/main">
            <a:off x="2914650" y="2362200"/>
            <a:ext cx="1809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−ΔC</a:t>
            </a:r>
          </a:p>
        </p:txBody>
      </p:sp>
      <p:sp>
        <p:nvSpPr>
          <p:cNvPr id="8" name="">
            <a:extLst xmlns:a="http://schemas.openxmlformats.org/drawingml/2006/main">
              <a:ext uri="{FF2B5EF4-FFF2-40B4-BE49-F238E27FC236}">
                <a16:creationId xmlns:a16="http://schemas.microsoft.com/office/drawing/2014/main" id="{9E174476-4362-4396-8B22-AE1809FF4E52}"/>
              </a:ext>
            </a:extLst>
          </p:cNvPr>
          <p:cNvSpPr>
            <a:spLocks xmlns:a="http://schemas.openxmlformats.org/drawingml/2006/main" noGrp="1"/>
          </p:cNvSpPr>
          <p:nvPr/>
        </p:nvSpPr>
        <p:spPr>
          <a:xfrm xmlns:a="http://schemas.openxmlformats.org/drawingml/2006/main">
            <a:off x="5162550" y="171450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1D8077"/>
                </a:solidFill>
                <a:latin typeface="DejaVu Sans"/>
                <a:ea typeface="DejaVu Sans"/>
                <a:cs typeface="DejaVu Sans"/>
              </a:defRPr>
            </a:pPr>
            <a:r>
              <a:rPr sz="1800" b="1" i="0">
                <a:solidFill>
                  <a:srgbClr val="1D8077"/>
                </a:solidFill>
                <a:latin typeface="DejaVu Sans"/>
                <a:ea typeface="DejaVu Sans"/>
                <a:cs typeface="DejaVu Sans"/>
              </a:rPr>
              <a:t>smart</a:t>
            </a:r>
          </a:p>
        </p:txBody>
      </p:sp>
      <p:sp>
        <p:nvSpPr>
          <p:cNvPr id="9" name="">
            <a:extLst xmlns:a="http://schemas.openxmlformats.org/drawingml/2006/main">
              <a:ext uri="{FF2B5EF4-FFF2-40B4-BE49-F238E27FC236}">
                <a16:creationId xmlns:a16="http://schemas.microsoft.com/office/drawing/2014/main" id="{BD395674-3828-4CF9-8100-532A602BCC31}"/>
              </a:ext>
            </a:extLst>
          </p:cNvPr>
          <p:cNvSpPr>
            <a:spLocks xmlns:a="http://schemas.openxmlformats.org/drawingml/2006/main" noGrp="1"/>
          </p:cNvSpPr>
          <p:nvPr/>
        </p:nvSpPr>
        <p:spPr>
          <a:xfrm xmlns:a="http://schemas.openxmlformats.org/drawingml/2006/main">
            <a:off x="5162550" y="2362200"/>
            <a:ext cx="1809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ΔS / ΔC</a:t>
            </a:r>
          </a:p>
        </p:txBody>
      </p:sp>
      <p:sp>
        <p:nvSpPr>
          <p:cNvPr id="10" name="">
            <a:extLst xmlns:a="http://schemas.openxmlformats.org/drawingml/2006/main">
              <a:ext uri="{FF2B5EF4-FFF2-40B4-BE49-F238E27FC236}">
                <a16:creationId xmlns:a16="http://schemas.microsoft.com/office/drawing/2014/main" id="{E0B385C3-64AC-4D19-B375-68258C4AE25C}"/>
              </a:ext>
            </a:extLst>
          </p:cNvPr>
          <p:cNvSpPr>
            <a:spLocks xmlns:a="http://schemas.openxmlformats.org/drawingml/2006/main" noGrp="1"/>
          </p:cNvSpPr>
          <p:nvPr/>
        </p:nvSpPr>
        <p:spPr>
          <a:xfrm xmlns:a="http://schemas.openxmlformats.org/drawingml/2006/main">
            <a:off x="7410450" y="171450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7458A6"/>
                </a:solidFill>
                <a:latin typeface="DejaVu Sans"/>
                <a:ea typeface="DejaVu Sans"/>
                <a:cs typeface="DejaVu Sans"/>
              </a:defRPr>
            </a:pPr>
            <a:r>
              <a:rPr sz="1800" b="1" i="0">
                <a:solidFill>
                  <a:srgbClr val="7458A6"/>
                </a:solidFill>
                <a:latin typeface="DejaVu Sans"/>
                <a:ea typeface="DejaVu Sans"/>
                <a:cs typeface="DejaVu Sans"/>
              </a:rPr>
              <a:t>wise</a:t>
            </a:r>
          </a:p>
        </p:txBody>
      </p:sp>
      <p:sp>
        <p:nvSpPr>
          <p:cNvPr id="11" name="">
            <a:extLst xmlns:a="http://schemas.openxmlformats.org/drawingml/2006/main">
              <a:ext uri="{FF2B5EF4-FFF2-40B4-BE49-F238E27FC236}">
                <a16:creationId xmlns:a16="http://schemas.microsoft.com/office/drawing/2014/main" id="{A7165674-B9C5-448F-80F9-381601A92485}"/>
              </a:ext>
            </a:extLst>
          </p:cNvPr>
          <p:cNvSpPr>
            <a:spLocks xmlns:a="http://schemas.openxmlformats.org/drawingml/2006/main" noGrp="1"/>
          </p:cNvSpPr>
          <p:nvPr/>
        </p:nvSpPr>
        <p:spPr>
          <a:xfrm xmlns:a="http://schemas.openxmlformats.org/drawingml/2006/main">
            <a:off x="7410450" y="2362200"/>
            <a:ext cx="1809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ΔS / ΔC²</a:t>
            </a:r>
          </a:p>
        </p:txBody>
      </p:sp>
      <p:sp>
        <p:nvSpPr>
          <p:cNvPr id="12" name="">
            <a:extLst xmlns:a="http://schemas.openxmlformats.org/drawingml/2006/main">
              <a:ext uri="{FF2B5EF4-FFF2-40B4-BE49-F238E27FC236}">
                <a16:creationId xmlns:a16="http://schemas.microsoft.com/office/drawing/2014/main" id="{A5D8A377-0EBC-41BD-87C1-4269DC9EF963}"/>
              </a:ext>
            </a:extLst>
          </p:cNvPr>
          <p:cNvSpPr>
            <a:spLocks xmlns:a="http://schemas.openxmlformats.org/drawingml/2006/main" noGrp="1"/>
          </p:cNvSpPr>
          <p:nvPr/>
        </p:nvSpPr>
        <p:spPr>
          <a:xfrm xmlns:a="http://schemas.openxmlformats.org/drawingml/2006/main">
            <a:off x="9658350" y="171450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E47A32"/>
                </a:solidFill>
                <a:latin typeface="DejaVu Sans"/>
                <a:ea typeface="DejaVu Sans"/>
                <a:cs typeface="DejaVu Sans"/>
              </a:defRPr>
            </a:pPr>
            <a:r>
              <a:rPr sz="1800" b="1" i="0">
                <a:solidFill>
                  <a:srgbClr val="E47A32"/>
                </a:solidFill>
                <a:latin typeface="DejaVu Sans"/>
                <a:ea typeface="DejaVu Sans"/>
                <a:cs typeface="DejaVu Sans"/>
              </a:rPr>
              <a:t>envy</a:t>
            </a:r>
          </a:p>
        </p:txBody>
      </p:sp>
      <p:sp>
        <p:nvSpPr>
          <p:cNvPr id="13" name="">
            <a:extLst xmlns:a="http://schemas.openxmlformats.org/drawingml/2006/main">
              <a:ext uri="{FF2B5EF4-FFF2-40B4-BE49-F238E27FC236}">
                <a16:creationId xmlns:a16="http://schemas.microsoft.com/office/drawing/2014/main" id="{AACA243C-CC7B-482A-AC82-847C98CD06B6}"/>
              </a:ext>
            </a:extLst>
          </p:cNvPr>
          <p:cNvSpPr>
            <a:spLocks xmlns:a="http://schemas.openxmlformats.org/drawingml/2006/main" noGrp="1"/>
          </p:cNvSpPr>
          <p:nvPr/>
        </p:nvSpPr>
        <p:spPr>
          <a:xfrm xmlns:a="http://schemas.openxmlformats.org/drawingml/2006/main">
            <a:off x="9658350" y="2362200"/>
            <a:ext cx="1809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ΔS² / ΔC</a:t>
            </a:r>
          </a:p>
        </p:txBody>
      </p:sp>
      <p:sp>
        <p:nvSpPr>
          <p:cNvPr id="14" name="">
            <a:extLst xmlns:a="http://schemas.openxmlformats.org/drawingml/2006/main">
              <a:ext uri="{FF2B5EF4-FFF2-40B4-BE49-F238E27FC236}">
                <a16:creationId xmlns:a16="http://schemas.microsoft.com/office/drawing/2014/main" id="{73BD9C4B-7D7B-4785-A0F7-8CFBA82D1454}"/>
              </a:ext>
            </a:extLst>
          </p:cNvPr>
          <p:cNvSpPr>
            <a:spLocks xmlns:a="http://schemas.openxmlformats.org/drawingml/2006/main" noGrp="1"/>
          </p:cNvSpPr>
          <p:nvPr/>
        </p:nvSpPr>
        <p:spPr>
          <a:xfrm xmlns:a="http://schemas.openxmlformats.org/drawingml/2006/main">
            <a:off x="5143500" y="3619500"/>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5E6B73"/>
                </a:solidFill>
                <a:latin typeface="DejaVu Sans"/>
                <a:ea typeface="DejaVu Sans"/>
                <a:cs typeface="DejaVu Sans"/>
              </a:defRPr>
            </a:pPr>
            <a:r>
              <a:rPr sz="1425" b="1" i="0">
                <a:solidFill>
                  <a:srgbClr val="5E6B73"/>
                </a:solidFill>
                <a:latin typeface="DejaVu Sans"/>
                <a:ea typeface="DejaVu Sans"/>
                <a:cs typeface="DejaVu Sans"/>
              </a:rPr>
              <a:t>nonlinear criteria</a:t>
            </a:r>
          </a:p>
        </p:txBody>
      </p:sp>
      <p:sp>
        <p:nvSpPr>
          <p:cNvPr id="15" name="">
            <a:extLst xmlns:a="http://schemas.openxmlformats.org/drawingml/2006/main">
              <a:ext uri="{FF2B5EF4-FFF2-40B4-BE49-F238E27FC236}">
                <a16:creationId xmlns:a16="http://schemas.microsoft.com/office/drawing/2014/main" id="{EE95F98F-8D50-42BA-9543-2126D6E1DDA7}"/>
              </a:ext>
            </a:extLst>
          </p:cNvPr>
          <p:cNvSpPr>
            <a:spLocks xmlns:a="http://schemas.openxmlformats.org/drawingml/2006/main" noGrp="1"/>
          </p:cNvSpPr>
          <p:nvPr/>
        </p:nvSpPr>
        <p:spPr>
          <a:xfrm xmlns:a="http://schemas.openxmlformats.org/drawingml/2006/main">
            <a:off x="5143500" y="4048125"/>
            <a:ext cx="590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i="0">
                <a:solidFill>
                  <a:srgbClr val="E47A32"/>
                </a:solidFill>
                <a:latin typeface="DejaVu Sans"/>
                <a:ea typeface="DejaVu Sans"/>
                <a:cs typeface="DejaVu Sans"/>
              </a:defRPr>
            </a:pPr>
            <a:r>
              <a:rPr sz="2175" b="1" i="0">
                <a:solidFill>
                  <a:srgbClr val="E47A32"/>
                </a:solidFill>
                <a:latin typeface="DejaVu Sans"/>
                <a:ea typeface="DejaVu Sans"/>
                <a:cs typeface="DejaVu Sans"/>
              </a:rPr>
              <a:t>marginal  ↔  total-route formulation</a:t>
            </a:r>
          </a:p>
        </p:txBody>
      </p:sp>
      <p:sp>
        <p:nvSpPr>
          <p:cNvPr id="16" name="">
            <a:extLst xmlns:a="http://schemas.openxmlformats.org/drawingml/2006/main">
              <a:ext uri="{FF2B5EF4-FFF2-40B4-BE49-F238E27FC236}">
                <a16:creationId xmlns:a16="http://schemas.microsoft.com/office/drawing/2014/main" id="{920D41D2-8954-47BF-8D7A-844A45767A4D}"/>
              </a:ext>
            </a:extLst>
          </p:cNvPr>
          <p:cNvSpPr>
            <a:spLocks xmlns:a="http://schemas.openxmlformats.org/drawingml/2006/main" noGrp="1"/>
          </p:cNvSpPr>
          <p:nvPr/>
        </p:nvSpPr>
        <p:spPr>
          <a:xfrm xmlns:a="http://schemas.openxmlformats.org/drawingml/2006/main">
            <a:off x="1143000" y="5381625"/>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24"/>
          </a:bodyPr>
          <a:lstStyle xmlns:a="http://schemas.openxmlformats.org/drawingml/2006/main"/>
          <a:p xmlns:a="http://schemas.openxmlformats.org/drawingml/2006/main">
            <a:pPr algn="ctr">
              <a:defRPr sz="1725" b="0" i="0">
                <a:solidFill>
                  <a:srgbClr val="102B3A"/>
                </a:solidFill>
                <a:latin typeface="DejaVu Sans"/>
                <a:ea typeface="DejaVu Sans"/>
                <a:cs typeface="DejaVu Sans"/>
              </a:defRPr>
            </a:pPr>
            <a:r>
              <a:rPr sz="1725" b="0" i="0">
                <a:solidFill>
                  <a:srgbClr val="102B3A"/>
                </a:solidFill>
                <a:latin typeface="DejaVu Sans"/>
                <a:ea typeface="DejaVu Sans"/>
                <a:cs typeface="DejaVu Sans"/>
              </a:rPr>
              <a:t>Guided methods sample among strong criteria; pure random samples any feasible insertion.</a:t>
            </a:r>
          </a:p>
        </p:txBody>
      </p:sp>
    </p:spTree>
    <p:extLst>
      <p:ext uri="{BB962C8B-B14F-4D97-AF65-F5344CB8AC3E}">
        <p14:creationId xmlns:p14="http://schemas.microsoft.com/office/powerpoint/2010/main" val="606174285"/>
      </p:ext>
    </p:extLst>
  </p:cSld>
</p:sld>
</file>

<file path=ppt/slides/slide5.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540E0AB-438A-43BD-BF8D-D8ED463F16B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D80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F27411-5D98-471A-8592-DD9271321968}"/>
              </a:ext>
            </a:extLst>
          </p:cNvPr>
          <p:cNvSpPr>
            <a:spLocks xmlns:a="http://schemas.openxmlformats.org/drawingml/2006/main" noGrp="1"/>
          </p:cNvSpPr>
          <p:nvPr/>
        </p:nvSpPr>
        <p:spPr>
          <a:xfrm xmlns:a="http://schemas.openxmlformats.org/drawingml/2006/main">
            <a:off x="552450" y="5905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A large descriptive experiment</a:t>
            </a:r>
          </a:p>
        </p:txBody>
      </p:sp>
      <p:sp>
        <p:nvSpPr>
          <p:cNvPr id="3" name="">
            <a:extLst xmlns:a="http://schemas.openxmlformats.org/drawingml/2006/main">
              <a:ext uri="{FF2B5EF4-FFF2-40B4-BE49-F238E27FC236}">
                <a16:creationId xmlns:a16="http://schemas.microsoft.com/office/drawing/2014/main" id="{016C72B4-FAD4-45E5-8531-C726B779E695}"/>
              </a:ext>
            </a:extLst>
          </p:cNvPr>
          <p:cNvSpPr>
            <a:spLocks xmlns:a="http://schemas.openxmlformats.org/drawingml/2006/main" noGrp="1"/>
          </p:cNvSpPr>
          <p:nvPr/>
        </p:nvSpPr>
        <p:spPr>
          <a:xfrm xmlns:a="http://schemas.openxmlformats.org/drawingml/2006/main">
            <a:off x="113728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i="0">
                <a:solidFill>
                  <a:srgbClr val="5E6B73"/>
                </a:solidFill>
                <a:latin typeface="DejaVu Sans"/>
                <a:ea typeface="DejaVu Sans"/>
                <a:cs typeface="DejaVu Sans"/>
              </a:defRPr>
            </a:pPr>
            <a:r>
              <a:rPr sz="975" b="1" i="0">
                <a:solidFill>
                  <a:srgbClr val="5E6B73"/>
                </a:solidFill>
                <a:latin typeface="DejaVu Sans"/>
                <a:ea typeface="DejaVu Sans"/>
                <a:cs typeface="DejaVu Sans"/>
              </a:rPr>
              <a:t>05</a:t>
            </a:r>
          </a:p>
        </p:txBody>
      </p:sp>
      <p:sp>
        <p:nvSpPr>
          <p:cNvPr id="4" name="">
            <a:extLst xmlns:a="http://schemas.openxmlformats.org/drawingml/2006/main">
              <a:ext uri="{FF2B5EF4-FFF2-40B4-BE49-F238E27FC236}">
                <a16:creationId xmlns:a16="http://schemas.microsoft.com/office/drawing/2014/main" id="{020996BE-ECC3-4477-88ED-017FDEC7F66F}"/>
              </a:ext>
            </a:extLst>
          </p:cNvPr>
          <p:cNvSpPr>
            <a:spLocks xmlns:a="http://schemas.openxmlformats.org/drawingml/2006/main" noGrp="1"/>
          </p:cNvSpPr>
          <p:nvPr/>
        </p:nvSpPr>
        <p:spPr>
          <a:xfrm xmlns:a="http://schemas.openxmlformats.org/drawingml/2006/main">
            <a:off x="619125" y="1581150"/>
            <a:ext cx="2286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1D8077"/>
                </a:solidFill>
                <a:latin typeface="DejaVu Sans"/>
                <a:ea typeface="DejaVu Sans"/>
                <a:cs typeface="DejaVu Sans"/>
              </a:defRPr>
            </a:pPr>
            <a:r>
              <a:rPr sz="3600" b="1" i="0">
                <a:solidFill>
                  <a:srgbClr val="1D8077"/>
                </a:solidFill>
                <a:latin typeface="DejaVu Sans"/>
                <a:ea typeface="DejaVu Sans"/>
                <a:cs typeface="DejaVu Sans"/>
              </a:rPr>
              <a:t>89</a:t>
            </a:r>
          </a:p>
        </p:txBody>
      </p:sp>
      <p:sp>
        <p:nvSpPr>
          <p:cNvPr id="5" name="">
            <a:extLst xmlns:a="http://schemas.openxmlformats.org/drawingml/2006/main">
              <a:ext uri="{FF2B5EF4-FFF2-40B4-BE49-F238E27FC236}">
                <a16:creationId xmlns:a16="http://schemas.microsoft.com/office/drawing/2014/main" id="{F85449E9-3FF5-458A-9ED7-64F59BFE4B60}"/>
              </a:ext>
            </a:extLst>
          </p:cNvPr>
          <p:cNvSpPr>
            <a:spLocks xmlns:a="http://schemas.openxmlformats.org/drawingml/2006/main" noGrp="1"/>
          </p:cNvSpPr>
          <p:nvPr/>
        </p:nvSpPr>
        <p:spPr>
          <a:xfrm xmlns:a="http://schemas.openxmlformats.org/drawingml/2006/main">
            <a:off x="619125" y="224790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E6B73"/>
                </a:solidFill>
                <a:latin typeface="DejaVu Sans"/>
                <a:ea typeface="DejaVu Sans"/>
                <a:cs typeface="DejaVu Sans"/>
              </a:defRPr>
            </a:pPr>
            <a:r>
              <a:rPr sz="1350" b="0" i="0">
                <a:solidFill>
                  <a:srgbClr val="5E6B73"/>
                </a:solidFill>
                <a:latin typeface="DejaVu Sans"/>
                <a:ea typeface="DejaVu Sans"/>
                <a:cs typeface="DejaVu Sans"/>
              </a:rPr>
              <a:t>benchmark instances</a:t>
            </a:r>
          </a:p>
        </p:txBody>
      </p:sp>
      <p:sp>
        <p:nvSpPr>
          <p:cNvPr id="6" name="">
            <a:extLst xmlns:a="http://schemas.openxmlformats.org/drawingml/2006/main">
              <a:ext uri="{FF2B5EF4-FFF2-40B4-BE49-F238E27FC236}">
                <a16:creationId xmlns:a16="http://schemas.microsoft.com/office/drawing/2014/main" id="{0F24EE23-A321-42BC-B507-C13463E150AB}"/>
              </a:ext>
            </a:extLst>
          </p:cNvPr>
          <p:cNvSpPr>
            <a:spLocks xmlns:a="http://schemas.openxmlformats.org/drawingml/2006/main" noGrp="1"/>
          </p:cNvSpPr>
          <p:nvPr/>
        </p:nvSpPr>
        <p:spPr>
          <a:xfrm xmlns:a="http://schemas.openxmlformats.org/drawingml/2006/main">
            <a:off x="3333750" y="1581150"/>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E47A32"/>
                </a:solidFill>
                <a:latin typeface="DejaVu Sans"/>
                <a:ea typeface="DejaVu Sans"/>
                <a:cs typeface="DejaVu Sans"/>
              </a:defRPr>
            </a:pPr>
            <a:r>
              <a:rPr sz="3600" b="1" i="0">
                <a:solidFill>
                  <a:srgbClr val="E47A32"/>
                </a:solidFill>
                <a:latin typeface="DejaVu Sans"/>
                <a:ea typeface="DejaVu Sans"/>
                <a:cs typeface="DejaVu Sans"/>
              </a:rPr>
              <a:t>5,000</a:t>
            </a:r>
          </a:p>
        </p:txBody>
      </p:sp>
      <p:sp>
        <p:nvSpPr>
          <p:cNvPr id="7" name="">
            <a:extLst xmlns:a="http://schemas.openxmlformats.org/drawingml/2006/main">
              <a:ext uri="{FF2B5EF4-FFF2-40B4-BE49-F238E27FC236}">
                <a16:creationId xmlns:a16="http://schemas.microsoft.com/office/drawing/2014/main" id="{F1DABED8-F49D-480A-BC5E-58ED9FFDB66E}"/>
              </a:ext>
            </a:extLst>
          </p:cNvPr>
          <p:cNvSpPr>
            <a:spLocks xmlns:a="http://schemas.openxmlformats.org/drawingml/2006/main" noGrp="1"/>
          </p:cNvSpPr>
          <p:nvPr/>
        </p:nvSpPr>
        <p:spPr>
          <a:xfrm xmlns:a="http://schemas.openxmlformats.org/drawingml/2006/main">
            <a:off x="3333750" y="22479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E6B73"/>
                </a:solidFill>
                <a:latin typeface="DejaVu Sans"/>
                <a:ea typeface="DejaVu Sans"/>
                <a:cs typeface="DejaVu Sans"/>
              </a:defRPr>
            </a:pPr>
            <a:r>
              <a:rPr sz="1350" b="0" i="0">
                <a:solidFill>
                  <a:srgbClr val="5E6B73"/>
                </a:solidFill>
                <a:latin typeface="DejaVu Sans"/>
                <a:ea typeface="DejaVu Sans"/>
                <a:cs typeface="DejaVu Sans"/>
              </a:rPr>
              <a:t>runs per method–instance</a:t>
            </a:r>
          </a:p>
        </p:txBody>
      </p:sp>
      <p:sp>
        <p:nvSpPr>
          <p:cNvPr id="8" name="">
            <a:extLst xmlns:a="http://schemas.openxmlformats.org/drawingml/2006/main">
              <a:ext uri="{FF2B5EF4-FFF2-40B4-BE49-F238E27FC236}">
                <a16:creationId xmlns:a16="http://schemas.microsoft.com/office/drawing/2014/main" id="{CABE1ACD-08A8-4B7E-8508-B1A82C62A6BC}"/>
              </a:ext>
            </a:extLst>
          </p:cNvPr>
          <p:cNvSpPr>
            <a:spLocks xmlns:a="http://schemas.openxmlformats.org/drawingml/2006/main" noGrp="1"/>
          </p:cNvSpPr>
          <p:nvPr/>
        </p:nvSpPr>
        <p:spPr>
          <a:xfrm xmlns:a="http://schemas.openxmlformats.org/drawingml/2006/main">
            <a:off x="6238875" y="1581150"/>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7458A6"/>
                </a:solidFill>
                <a:latin typeface="DejaVu Sans"/>
                <a:ea typeface="DejaVu Sans"/>
                <a:cs typeface="DejaVu Sans"/>
              </a:defRPr>
            </a:pPr>
            <a:r>
              <a:rPr sz="3600" b="1" i="0">
                <a:solidFill>
                  <a:srgbClr val="7458A6"/>
                </a:solidFill>
                <a:latin typeface="DejaVu Sans"/>
                <a:ea typeface="DejaVu Sans"/>
                <a:cs typeface="DejaVu Sans"/>
              </a:rPr>
              <a:t>1,000</a:t>
            </a:r>
          </a:p>
        </p:txBody>
      </p:sp>
      <p:sp>
        <p:nvSpPr>
          <p:cNvPr id="9" name="">
            <a:extLst xmlns:a="http://schemas.openxmlformats.org/drawingml/2006/main">
              <a:ext uri="{FF2B5EF4-FFF2-40B4-BE49-F238E27FC236}">
                <a16:creationId xmlns:a16="http://schemas.microsoft.com/office/drawing/2014/main" id="{E7F9336C-C590-4419-802B-F6D49CDE7664}"/>
              </a:ext>
            </a:extLst>
          </p:cNvPr>
          <p:cNvSpPr>
            <a:spLocks xmlns:a="http://schemas.openxmlformats.org/drawingml/2006/main" noGrp="1"/>
          </p:cNvSpPr>
          <p:nvPr/>
        </p:nvSpPr>
        <p:spPr>
          <a:xfrm xmlns:a="http://schemas.openxmlformats.org/drawingml/2006/main">
            <a:off x="6238875" y="22479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E6B73"/>
                </a:solidFill>
                <a:latin typeface="DejaVu Sans"/>
                <a:ea typeface="DejaVu Sans"/>
                <a:cs typeface="DejaVu Sans"/>
              </a:defRPr>
            </a:pPr>
            <a:r>
              <a:rPr sz="1350" b="0" i="0">
                <a:solidFill>
                  <a:srgbClr val="5E6B73"/>
                </a:solidFill>
                <a:latin typeface="DejaVu Sans"/>
                <a:ea typeface="DejaVu Sans"/>
                <a:cs typeface="DejaVu Sans"/>
              </a:rPr>
              <a:t>routes retained for diversity</a:t>
            </a:r>
          </a:p>
        </p:txBody>
      </p:sp>
      <p:sp>
        <p:nvSpPr>
          <p:cNvPr id="10" name="">
            <a:extLst xmlns:a="http://schemas.openxmlformats.org/drawingml/2006/main">
              <a:ext uri="{FF2B5EF4-FFF2-40B4-BE49-F238E27FC236}">
                <a16:creationId xmlns:a16="http://schemas.microsoft.com/office/drawing/2014/main" id="{2026EBAE-BFFE-4540-810D-DF1444142F97}"/>
              </a:ext>
            </a:extLst>
          </p:cNvPr>
          <p:cNvSpPr>
            <a:spLocks xmlns:a="http://schemas.openxmlformats.org/drawingml/2006/main" noGrp="1"/>
          </p:cNvSpPr>
          <p:nvPr/>
        </p:nvSpPr>
        <p:spPr>
          <a:xfrm xmlns:a="http://schemas.openxmlformats.org/drawingml/2006/main">
            <a:off x="9144000" y="158115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2679A8"/>
                </a:solidFill>
                <a:latin typeface="DejaVu Sans"/>
                <a:ea typeface="DejaVu Sans"/>
                <a:cs typeface="DejaVu Sans"/>
              </a:defRPr>
            </a:pPr>
            <a:r>
              <a:rPr sz="3600" b="1" i="0">
                <a:solidFill>
                  <a:srgbClr val="2679A8"/>
                </a:solidFill>
                <a:latin typeface="DejaVu Sans"/>
                <a:ea typeface="DejaVu Sans"/>
                <a:cs typeface="DejaVu Sans"/>
              </a:rPr>
              <a:t>10,000</a:t>
            </a:r>
          </a:p>
        </p:txBody>
      </p:sp>
      <p:sp>
        <p:nvSpPr>
          <p:cNvPr id="11" name="">
            <a:extLst xmlns:a="http://schemas.openxmlformats.org/drawingml/2006/main">
              <a:ext uri="{FF2B5EF4-FFF2-40B4-BE49-F238E27FC236}">
                <a16:creationId xmlns:a16="http://schemas.microsoft.com/office/drawing/2014/main" id="{EB41B76C-5F4C-4697-9AAB-85A393599BFD}"/>
              </a:ext>
            </a:extLst>
          </p:cNvPr>
          <p:cNvSpPr>
            <a:spLocks xmlns:a="http://schemas.openxmlformats.org/drawingml/2006/main" noGrp="1"/>
          </p:cNvSpPr>
          <p:nvPr/>
        </p:nvSpPr>
        <p:spPr>
          <a:xfrm xmlns:a="http://schemas.openxmlformats.org/drawingml/2006/main">
            <a:off x="9144000" y="22479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E6B73"/>
                </a:solidFill>
                <a:latin typeface="DejaVu Sans"/>
                <a:ea typeface="DejaVu Sans"/>
                <a:cs typeface="DejaVu Sans"/>
              </a:defRPr>
            </a:pPr>
            <a:r>
              <a:rPr sz="1350" b="0" i="0">
                <a:solidFill>
                  <a:srgbClr val="5E6B73"/>
                </a:solidFill>
                <a:latin typeface="DejaVu Sans"/>
                <a:ea typeface="DejaVu Sans"/>
                <a:cs typeface="DejaVu Sans"/>
              </a:rPr>
              <a:t>runs for each route grid</a:t>
            </a:r>
          </a:p>
        </p:txBody>
      </p:sp>
      <p:sp>
        <p:nvSpPr>
          <p:cNvPr id="12" name="">
            <a:extLst xmlns:a="http://schemas.openxmlformats.org/drawingml/2006/main">
              <a:ext uri="{FF2B5EF4-FFF2-40B4-BE49-F238E27FC236}">
                <a16:creationId xmlns:a16="http://schemas.microsoft.com/office/drawing/2014/main" id="{D94BEC9D-DD62-4962-A4B7-1A3DA784ECB3}"/>
              </a:ext>
            </a:extLst>
          </p:cNvPr>
          <p:cNvSpPr>
            <a:spLocks xmlns:a="http://schemas.openxmlformats.org/drawingml/2006/main" noGrp="1"/>
          </p:cNvSpPr>
          <p:nvPr/>
        </p:nvSpPr>
        <p:spPr>
          <a:xfrm xmlns:a="http://schemas.openxmlformats.org/drawingml/2006/main">
            <a:off x="857250" y="35718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02B3A"/>
                </a:solidFill>
                <a:latin typeface="DejaVu Sans"/>
                <a:ea typeface="DejaVu Sans"/>
                <a:cs typeface="DejaVu Sans"/>
              </a:defRPr>
            </a:pPr>
            <a:r>
              <a:rPr sz="1800" b="1" i="0">
                <a:solidFill>
                  <a:srgbClr val="102B3A"/>
                </a:solidFill>
                <a:latin typeface="DejaVu Sans"/>
                <a:ea typeface="DejaVu Sans"/>
                <a:cs typeface="DejaVu Sans"/>
              </a:rPr>
              <a:t>Chao + Tsiligirides</a:t>
            </a:r>
          </a:p>
        </p:txBody>
      </p:sp>
      <p:sp>
        <p:nvSpPr>
          <p:cNvPr id="13" name="">
            <a:extLst xmlns:a="http://schemas.openxmlformats.org/drawingml/2006/main">
              <a:ext uri="{FF2B5EF4-FFF2-40B4-BE49-F238E27FC236}">
                <a16:creationId xmlns:a16="http://schemas.microsoft.com/office/drawing/2014/main" id="{C74BD5AB-C3B8-4AF2-82FF-A9B76D71A61E}"/>
              </a:ext>
            </a:extLst>
          </p:cNvPr>
          <p:cNvSpPr>
            <a:spLocks xmlns:a="http://schemas.openxmlformats.org/drawingml/2006/main" noGrp="1"/>
          </p:cNvSpPr>
          <p:nvPr/>
        </p:nvSpPr>
        <p:spPr>
          <a:xfrm xmlns:a="http://schemas.openxmlformats.org/drawingml/2006/main">
            <a:off x="4000500" y="3571875"/>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650" b="0" i="0">
                <a:solidFill>
                  <a:srgbClr val="102B3A"/>
                </a:solidFill>
                <a:latin typeface="DejaVu Sans"/>
                <a:ea typeface="DejaVu Sans"/>
                <a:cs typeface="DejaVu Sans"/>
              </a:defRPr>
            </a:pPr>
            <a:r>
              <a:rPr sz="1650" b="0" i="0">
                <a:solidFill>
                  <a:srgbClr val="102B3A"/>
                </a:solidFill>
                <a:latin typeface="DejaVu Sans"/>
                <a:ea typeface="DejaVu Sans"/>
                <a:cs typeface="DejaVu Sans"/>
              </a:rPr>
              <a:t>Median score · arc-Jaccard diversity · standard errors</a:t>
            </a:r>
          </a:p>
        </p:txBody>
      </p:sp>
      <p:sp>
        <p:nvSpPr>
          <p:cNvPr id="14" name="">
            <a:extLst xmlns:a="http://schemas.openxmlformats.org/drawingml/2006/main">
              <a:ext uri="{FF2B5EF4-FFF2-40B4-BE49-F238E27FC236}">
                <a16:creationId xmlns:a16="http://schemas.microsoft.com/office/drawing/2014/main" id="{CFEF1AFA-6B5B-483E-8BB2-7CD7B5277221}"/>
              </a:ext>
            </a:extLst>
          </p:cNvPr>
          <p:cNvSpPr>
            <a:spLocks xmlns:a="http://schemas.openxmlformats.org/drawingml/2006/main" noGrp="1"/>
          </p:cNvSpPr>
          <p:nvPr/>
        </p:nvSpPr>
        <p:spPr>
          <a:xfrm xmlns:a="http://schemas.openxmlformats.org/drawingml/2006/main">
            <a:off x="666750" y="4495800"/>
            <a:ext cx="10858500" cy="19050"/>
          </a:xfrm>
          <a:prstGeom xmlns:a="http://schemas.openxmlformats.org/drawingml/2006/main" prst="rect">
            <a:avLst/>
          </a:prstGeom>
          <a:solidFill xmlns:a="http://schemas.openxmlformats.org/drawingml/2006/main">
            <a:srgbClr val="DDE8E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F250B7C-BC94-4C9E-85AB-74C59EA273BB}"/>
              </a:ext>
            </a:extLst>
          </p:cNvPr>
          <p:cNvSpPr>
            <a:spLocks xmlns:a="http://schemas.openxmlformats.org/drawingml/2006/main" noGrp="1"/>
          </p:cNvSpPr>
          <p:nvPr/>
        </p:nvSpPr>
        <p:spPr>
          <a:xfrm xmlns:a="http://schemas.openxmlformats.org/drawingml/2006/main">
            <a:off x="809625" y="48768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i="0">
                <a:solidFill>
                  <a:srgbClr val="5E6B73"/>
                </a:solidFill>
                <a:latin typeface="DejaVu Sans"/>
                <a:ea typeface="DejaVu Sans"/>
                <a:cs typeface="DejaVu Sans"/>
              </a:defRPr>
            </a:pPr>
            <a:r>
              <a:rPr sz="1650" b="0" i="0">
                <a:solidFill>
                  <a:srgbClr val="5E6B73"/>
                </a:solidFill>
                <a:latin typeface="DejaVu Sans"/>
                <a:ea typeface="DejaVu Sans"/>
                <a:cs typeface="DejaVu Sans"/>
              </a:rPr>
              <a:t>Ryzen 7 5700X  ·  31.27 GiB  ·  NixOS 26.05  ·  Rust 1.97.1</a:t>
            </a:r>
          </a:p>
        </p:txBody>
      </p:sp>
      <p:sp>
        <p:nvSpPr>
          <p:cNvPr id="16" name="">
            <a:extLst xmlns:a="http://schemas.openxmlformats.org/drawingml/2006/main">
              <a:ext uri="{FF2B5EF4-FFF2-40B4-BE49-F238E27FC236}">
                <a16:creationId xmlns:a16="http://schemas.microsoft.com/office/drawing/2014/main" id="{F44521CA-A4DE-4A04-91A9-CF76A4A76CFF}"/>
              </a:ext>
            </a:extLst>
          </p:cNvPr>
          <p:cNvSpPr>
            <a:spLocks xmlns:a="http://schemas.openxmlformats.org/drawingml/2006/main" noGrp="1"/>
          </p:cNvSpPr>
          <p:nvPr/>
        </p:nvSpPr>
        <p:spPr>
          <a:xfrm xmlns:a="http://schemas.openxmlformats.org/drawingml/2006/main">
            <a:off x="1714500" y="5543550"/>
            <a:ext cx="876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1">
                <a:solidFill>
                  <a:srgbClr val="5E6B73"/>
                </a:solidFill>
                <a:latin typeface="DejaVu Sans"/>
                <a:ea typeface="DejaVu Sans"/>
                <a:cs typeface="DejaVu Sans"/>
              </a:defRPr>
            </a:pPr>
            <a:r>
              <a:rPr sz="1425" b="0" i="1">
                <a:solidFill>
                  <a:srgbClr val="5E6B73"/>
                </a:solidFill>
                <a:latin typeface="DejaVu Sans"/>
                <a:ea typeface="DejaVu Sans"/>
                <a:cs typeface="DejaVu Sans"/>
              </a:rPr>
              <a:t>Descriptive evidence — no inferential significance test</a:t>
            </a:r>
          </a:p>
        </p:txBody>
      </p:sp>
    </p:spTree>
    <p:extLst>
      <p:ext uri="{BB962C8B-B14F-4D97-AF65-F5344CB8AC3E}">
        <p14:creationId xmlns:p14="http://schemas.microsoft.com/office/powerpoint/2010/main" val="1454905457"/>
      </p:ext>
    </p:extLst>
  </p:cSld>
</p:sld>
</file>

<file path=ppt/slides/slide6.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3590A5-8616-4B81-A3DB-BEDC419651B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D80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A211AD-7977-4304-8D3D-9796CDEEE521}"/>
              </a:ext>
            </a:extLst>
          </p:cNvPr>
          <p:cNvSpPr>
            <a:spLocks xmlns:a="http://schemas.openxmlformats.org/drawingml/2006/main" noGrp="1"/>
          </p:cNvSpPr>
          <p:nvPr/>
        </p:nvSpPr>
        <p:spPr>
          <a:xfrm xmlns:a="http://schemas.openxmlformats.org/drawingml/2006/main">
            <a:off x="552450" y="5905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Envy, wise, and smart form the quality tier</a:t>
            </a:r>
          </a:p>
        </p:txBody>
      </p:sp>
      <p:sp>
        <p:nvSpPr>
          <p:cNvPr id="3" name="">
            <a:extLst xmlns:a="http://schemas.openxmlformats.org/drawingml/2006/main">
              <a:ext uri="{FF2B5EF4-FFF2-40B4-BE49-F238E27FC236}">
                <a16:creationId xmlns:a16="http://schemas.microsoft.com/office/drawing/2014/main" id="{20D5AA1C-EFAF-43E6-9441-8E4FCB7E97D2}"/>
              </a:ext>
            </a:extLst>
          </p:cNvPr>
          <p:cNvSpPr>
            <a:spLocks xmlns:a="http://schemas.openxmlformats.org/drawingml/2006/main" noGrp="1"/>
          </p:cNvSpPr>
          <p:nvPr/>
        </p:nvSpPr>
        <p:spPr>
          <a:xfrm xmlns:a="http://schemas.openxmlformats.org/drawingml/2006/main">
            <a:off x="113728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i="0">
                <a:solidFill>
                  <a:srgbClr val="5E6B73"/>
                </a:solidFill>
                <a:latin typeface="DejaVu Sans"/>
                <a:ea typeface="DejaVu Sans"/>
                <a:cs typeface="DejaVu Sans"/>
              </a:defRPr>
            </a:pPr>
            <a:r>
              <a:rPr sz="975" b="1" i="0">
                <a:solidFill>
                  <a:srgbClr val="5E6B73"/>
                </a:solidFill>
                <a:latin typeface="DejaVu Sans"/>
                <a:ea typeface="DejaVu Sans"/>
                <a:cs typeface="DejaVu Sans"/>
              </a:rPr>
              <a:t>06</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1a18cb7c79341ed"/>
          <a:stretch xmlns:a="http://schemas.openxmlformats.org/drawingml/2006/main"/>
        </p:blipFill>
        <p:spPr>
          <a:xfrm xmlns:a="http://schemas.openxmlformats.org/drawingml/2006/main">
            <a:off x="1243174" y="1285875"/>
            <a:ext cx="6695752" cy="5000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201874E-06F6-4A9A-99E3-C5527D597AC0}"/>
              </a:ext>
            </a:extLst>
          </p:cNvPr>
          <p:cNvSpPr>
            <a:spLocks xmlns:a="http://schemas.openxmlformats.org/drawingml/2006/main" noGrp="1"/>
          </p:cNvSpPr>
          <p:nvPr/>
        </p:nvSpPr>
        <p:spPr>
          <a:xfrm xmlns:a="http://schemas.openxmlformats.org/drawingml/2006/main">
            <a:off x="9067800" y="2000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1D8077"/>
                </a:solidFill>
                <a:latin typeface="DejaVu Sans"/>
                <a:ea typeface="DejaVu Sans"/>
                <a:cs typeface="DejaVu Sans"/>
              </a:defRPr>
            </a:pPr>
            <a:r>
              <a:rPr sz="1275" b="1" i="0">
                <a:solidFill>
                  <a:srgbClr val="1D8077"/>
                </a:solidFill>
                <a:latin typeface="DejaVu Sans"/>
                <a:ea typeface="DejaVu Sans"/>
                <a:cs typeface="DejaVu Sans"/>
              </a:rPr>
              <a:t>TOP TIER</a:t>
            </a:r>
          </a:p>
        </p:txBody>
      </p:sp>
      <p:sp>
        <p:nvSpPr>
          <p:cNvPr id="6" name="">
            <a:extLst xmlns:a="http://schemas.openxmlformats.org/drawingml/2006/main">
              <a:ext uri="{FF2B5EF4-FFF2-40B4-BE49-F238E27FC236}">
                <a16:creationId xmlns:a16="http://schemas.microsoft.com/office/drawing/2014/main" id="{E74202CD-336D-44F7-A13C-5872DACEF974}"/>
              </a:ext>
            </a:extLst>
          </p:cNvPr>
          <p:cNvSpPr>
            <a:spLocks xmlns:a="http://schemas.openxmlformats.org/drawingml/2006/main" noGrp="1"/>
          </p:cNvSpPr>
          <p:nvPr/>
        </p:nvSpPr>
        <p:spPr>
          <a:xfrm xmlns:a="http://schemas.openxmlformats.org/drawingml/2006/main">
            <a:off x="9067800" y="2438400"/>
            <a:ext cx="2286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i="0">
                <a:solidFill>
                  <a:srgbClr val="102B3A"/>
                </a:solidFill>
                <a:latin typeface="DejaVu Sans"/>
                <a:ea typeface="DejaVu Sans"/>
                <a:cs typeface="DejaVu Sans"/>
              </a:defRPr>
            </a:pPr>
            <a:r>
              <a:rPr sz="2625" b="1" i="0">
                <a:solidFill>
                  <a:srgbClr val="102B3A"/>
                </a:solidFill>
                <a:latin typeface="DejaVu Sans"/>
                <a:ea typeface="DejaVu Sans"/>
                <a:cs typeface="DejaVu Sans"/>
              </a:rPr>
              <a:t>envy</a:t>
            </a:r>
          </a:p>
          <a:p xmlns:a="http://schemas.openxmlformats.org/drawingml/2006/main">
            <a:pPr algn="ctr">
              <a:defRPr sz="2625" b="1" i="0">
                <a:solidFill>
                  <a:srgbClr val="102B3A"/>
                </a:solidFill>
                <a:latin typeface="DejaVu Sans"/>
                <a:ea typeface="DejaVu Sans"/>
                <a:cs typeface="DejaVu Sans"/>
              </a:defRPr>
            </a:pPr>
            <a:r>
              <a:rPr sz="2625" b="1" i="0">
                <a:solidFill>
                  <a:srgbClr val="102B3A"/>
                </a:solidFill>
                <a:latin typeface="DejaVu Sans"/>
                <a:ea typeface="DejaVu Sans"/>
                <a:cs typeface="DejaVu Sans"/>
              </a:rPr>
              <a:t>wise</a:t>
            </a:r>
          </a:p>
          <a:p xmlns:a="http://schemas.openxmlformats.org/drawingml/2006/main">
            <a:pPr algn="ctr">
              <a:defRPr sz="2625" b="1" i="0">
                <a:solidFill>
                  <a:srgbClr val="102B3A"/>
                </a:solidFill>
                <a:latin typeface="DejaVu Sans"/>
                <a:ea typeface="DejaVu Sans"/>
                <a:cs typeface="DejaVu Sans"/>
              </a:defRPr>
            </a:pPr>
            <a:r>
              <a:rPr sz="2625" b="1" i="0">
                <a:solidFill>
                  <a:srgbClr val="102B3A"/>
                </a:solidFill>
                <a:latin typeface="DejaVu Sans"/>
                <a:ea typeface="DejaVu Sans"/>
                <a:cs typeface="DejaVu Sans"/>
              </a:rPr>
              <a:t>smart</a:t>
            </a:r>
          </a:p>
        </p:txBody>
      </p:sp>
      <p:sp>
        <p:nvSpPr>
          <p:cNvPr id="7" name="">
            <a:extLst xmlns:a="http://schemas.openxmlformats.org/drawingml/2006/main">
              <a:ext uri="{FF2B5EF4-FFF2-40B4-BE49-F238E27FC236}">
                <a16:creationId xmlns:a16="http://schemas.microsoft.com/office/drawing/2014/main" id="{CBDE210A-025C-476A-9EE1-330C976776AD}"/>
              </a:ext>
            </a:extLst>
          </p:cNvPr>
          <p:cNvSpPr>
            <a:spLocks xmlns:a="http://schemas.openxmlformats.org/drawingml/2006/main" noGrp="1"/>
          </p:cNvSpPr>
          <p:nvPr/>
        </p:nvSpPr>
        <p:spPr>
          <a:xfrm xmlns:a="http://schemas.openxmlformats.org/drawingml/2006/main">
            <a:off x="8858250" y="4619625"/>
            <a:ext cx="266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0" i="0">
                <a:solidFill>
                  <a:srgbClr val="5E6B73"/>
                </a:solidFill>
                <a:latin typeface="DejaVu Sans"/>
                <a:ea typeface="DejaVu Sans"/>
                <a:cs typeface="DejaVu Sans"/>
              </a:defRPr>
            </a:pPr>
            <a:r>
              <a:rPr sz="1575" b="0" i="0">
                <a:solidFill>
                  <a:srgbClr val="5E6B73"/>
                </a:solidFill>
                <a:latin typeface="DejaVu Sans"/>
                <a:ea typeface="DejaVu Sans"/>
                <a:cs typeface="DejaVu Sans"/>
              </a:rPr>
              <a:t>Score-only and cost-only rules leave quality behind.</a:t>
            </a:r>
          </a:p>
        </p:txBody>
      </p:sp>
    </p:spTree>
    <p:extLst>
      <p:ext uri="{BB962C8B-B14F-4D97-AF65-F5344CB8AC3E}">
        <p14:creationId xmlns:p14="http://schemas.microsoft.com/office/powerpoint/2010/main" val="720142256"/>
      </p:ext>
    </p:extLst>
  </p:cSld>
</p:sld>
</file>

<file path=ppt/slides/slide7.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3DC559-326B-4F0C-9380-D2B3CE966CE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D80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6C2C61-000D-43A1-BEE2-3C2375820E03}"/>
              </a:ext>
            </a:extLst>
          </p:cNvPr>
          <p:cNvSpPr>
            <a:spLocks xmlns:a="http://schemas.openxmlformats.org/drawingml/2006/main" noGrp="1"/>
          </p:cNvSpPr>
          <p:nvPr/>
        </p:nvSpPr>
        <p:spPr>
          <a:xfrm xmlns:a="http://schemas.openxmlformats.org/drawingml/2006/main">
            <a:off x="552450" y="5905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Global spread does not follow quality exactly</a:t>
            </a:r>
          </a:p>
        </p:txBody>
      </p:sp>
      <p:sp>
        <p:nvSpPr>
          <p:cNvPr id="3" name="">
            <a:extLst xmlns:a="http://schemas.openxmlformats.org/drawingml/2006/main">
              <a:ext uri="{FF2B5EF4-FFF2-40B4-BE49-F238E27FC236}">
                <a16:creationId xmlns:a16="http://schemas.microsoft.com/office/drawing/2014/main" id="{025232D5-E2DD-44B2-B19B-36C81F9E2196}"/>
              </a:ext>
            </a:extLst>
          </p:cNvPr>
          <p:cNvSpPr>
            <a:spLocks xmlns:a="http://schemas.openxmlformats.org/drawingml/2006/main" noGrp="1"/>
          </p:cNvSpPr>
          <p:nvPr/>
        </p:nvSpPr>
        <p:spPr>
          <a:xfrm xmlns:a="http://schemas.openxmlformats.org/drawingml/2006/main">
            <a:off x="113728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i="0">
                <a:solidFill>
                  <a:srgbClr val="5E6B73"/>
                </a:solidFill>
                <a:latin typeface="DejaVu Sans"/>
                <a:ea typeface="DejaVu Sans"/>
                <a:cs typeface="DejaVu Sans"/>
              </a:defRPr>
            </a:pPr>
            <a:r>
              <a:rPr sz="975" b="1" i="0">
                <a:solidFill>
                  <a:srgbClr val="5E6B73"/>
                </a:solidFill>
                <a:latin typeface="DejaVu Sans"/>
                <a:ea typeface="DejaVu Sans"/>
                <a:cs typeface="DejaVu Sans"/>
              </a:rPr>
              <a:t>07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215f5b9b39041b4"/>
          <a:stretch xmlns:a="http://schemas.openxmlformats.org/drawingml/2006/main"/>
        </p:blipFill>
        <p:spPr>
          <a:xfrm xmlns:a="http://schemas.openxmlformats.org/drawingml/2006/main">
            <a:off x="512309" y="1285875"/>
            <a:ext cx="8062232" cy="5000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7477C16-9123-4DBA-8F6B-72E4E24EAD6A}"/>
              </a:ext>
            </a:extLst>
          </p:cNvPr>
          <p:cNvSpPr>
            <a:spLocks xmlns:a="http://schemas.openxmlformats.org/drawingml/2006/main" noGrp="1"/>
          </p:cNvSpPr>
          <p:nvPr/>
        </p:nvSpPr>
        <p:spPr>
          <a:xfrm xmlns:a="http://schemas.openxmlformats.org/drawingml/2006/main">
            <a:off x="9029700" y="2000250"/>
            <a:ext cx="2333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300" b="1" i="0">
                <a:solidFill>
                  <a:srgbClr val="1D8077"/>
                </a:solidFill>
                <a:latin typeface="DejaVu Sans"/>
                <a:ea typeface="DejaVu Sans"/>
                <a:cs typeface="DejaVu Sans"/>
              </a:defRPr>
            </a:pPr>
            <a:r>
              <a:rPr sz="3300" b="1" i="0">
                <a:solidFill>
                  <a:srgbClr val="1D8077"/>
                </a:solidFill>
                <a:latin typeface="DejaVu Sans"/>
                <a:ea typeface="DejaVu Sans"/>
                <a:cs typeface="DejaVu Sans"/>
              </a:rPr>
              <a:t>≈ 0.29</a:t>
            </a:r>
          </a:p>
        </p:txBody>
      </p:sp>
      <p:sp>
        <p:nvSpPr>
          <p:cNvPr id="6" name="">
            <a:extLst xmlns:a="http://schemas.openxmlformats.org/drawingml/2006/main">
              <a:ext uri="{FF2B5EF4-FFF2-40B4-BE49-F238E27FC236}">
                <a16:creationId xmlns:a16="http://schemas.microsoft.com/office/drawing/2014/main" id="{DA5CFF11-0308-45D5-A1D7-67718C3B5358}"/>
              </a:ext>
            </a:extLst>
          </p:cNvPr>
          <p:cNvSpPr>
            <a:spLocks xmlns:a="http://schemas.openxmlformats.org/drawingml/2006/main" noGrp="1"/>
          </p:cNvSpPr>
          <p:nvPr/>
        </p:nvSpPr>
        <p:spPr>
          <a:xfrm xmlns:a="http://schemas.openxmlformats.org/drawingml/2006/main">
            <a:off x="9029700" y="26479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i="0">
                <a:solidFill>
                  <a:srgbClr val="102B3A"/>
                </a:solidFill>
                <a:latin typeface="DejaVu Sans"/>
                <a:ea typeface="DejaVu Sans"/>
                <a:cs typeface="DejaVu Sans"/>
              </a:defRPr>
            </a:pPr>
            <a:r>
              <a:rPr sz="1575" b="0" i="0">
                <a:solidFill>
                  <a:srgbClr val="102B3A"/>
                </a:solidFill>
                <a:latin typeface="DejaVu Sans"/>
                <a:ea typeface="DejaVu Sans"/>
                <a:cs typeface="DejaVu Sans"/>
              </a:rPr>
              <a:t>smart ≈ envy</a:t>
            </a:r>
          </a:p>
        </p:txBody>
      </p:sp>
      <p:sp>
        <p:nvSpPr>
          <p:cNvPr id="7" name="">
            <a:extLst xmlns:a="http://schemas.openxmlformats.org/drawingml/2006/main">
              <a:ext uri="{FF2B5EF4-FFF2-40B4-BE49-F238E27FC236}">
                <a16:creationId xmlns:a16="http://schemas.microsoft.com/office/drawing/2014/main" id="{61570935-044F-475E-A97C-AC443319CB22}"/>
              </a:ext>
            </a:extLst>
          </p:cNvPr>
          <p:cNvSpPr>
            <a:spLocks xmlns:a="http://schemas.openxmlformats.org/drawingml/2006/main" noGrp="1"/>
          </p:cNvSpPr>
          <p:nvPr/>
        </p:nvSpPr>
        <p:spPr>
          <a:xfrm xmlns:a="http://schemas.openxmlformats.org/drawingml/2006/main">
            <a:off x="9029700" y="3790950"/>
            <a:ext cx="2333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300" b="1" i="0">
                <a:solidFill>
                  <a:srgbClr val="7458A6"/>
                </a:solidFill>
                <a:latin typeface="DejaVu Sans"/>
                <a:ea typeface="DejaVu Sans"/>
                <a:cs typeface="DejaVu Sans"/>
              </a:defRPr>
            </a:pPr>
            <a:r>
              <a:rPr sz="3300" b="1" i="0">
                <a:solidFill>
                  <a:srgbClr val="7458A6"/>
                </a:solidFill>
                <a:latin typeface="DejaVu Sans"/>
                <a:ea typeface="DejaVu Sans"/>
                <a:cs typeface="DejaVu Sans"/>
              </a:rPr>
              <a:t>≈ 0.24</a:t>
            </a:r>
          </a:p>
        </p:txBody>
      </p:sp>
      <p:sp>
        <p:nvSpPr>
          <p:cNvPr id="8" name="">
            <a:extLst xmlns:a="http://schemas.openxmlformats.org/drawingml/2006/main">
              <a:ext uri="{FF2B5EF4-FFF2-40B4-BE49-F238E27FC236}">
                <a16:creationId xmlns:a16="http://schemas.microsoft.com/office/drawing/2014/main" id="{99258274-2A2F-4BB0-BBEE-25C3054B5523}"/>
              </a:ext>
            </a:extLst>
          </p:cNvPr>
          <p:cNvSpPr>
            <a:spLocks xmlns:a="http://schemas.openxmlformats.org/drawingml/2006/main" noGrp="1"/>
          </p:cNvSpPr>
          <p:nvPr/>
        </p:nvSpPr>
        <p:spPr>
          <a:xfrm xmlns:a="http://schemas.openxmlformats.org/drawingml/2006/main">
            <a:off x="9029700" y="44386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i="0">
                <a:solidFill>
                  <a:srgbClr val="102B3A"/>
                </a:solidFill>
                <a:latin typeface="DejaVu Sans"/>
                <a:ea typeface="DejaVu Sans"/>
                <a:cs typeface="DejaVu Sans"/>
              </a:defRPr>
            </a:pPr>
            <a:r>
              <a:rPr sz="1575" b="0" i="0">
                <a:solidFill>
                  <a:srgbClr val="102B3A"/>
                </a:solidFill>
                <a:latin typeface="DejaVu Sans"/>
                <a:ea typeface="DejaVu Sans"/>
                <a:cs typeface="DejaVu Sans"/>
              </a:rPr>
              <a:t>wise</a:t>
            </a:r>
          </a:p>
        </p:txBody>
      </p:sp>
    </p:spTree>
    <p:extLst>
      <p:ext uri="{BB962C8B-B14F-4D97-AF65-F5344CB8AC3E}">
        <p14:creationId xmlns:p14="http://schemas.microsoft.com/office/powerpoint/2010/main" val="125340406"/>
      </p:ext>
    </p:extLst>
  </p:cSld>
</p:sld>
</file>

<file path=ppt/slides/slide8.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D92886-1FA8-40C3-8489-653003347D1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D80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6D0283-8D87-4CD4-ABC7-0BF79068D094}"/>
              </a:ext>
            </a:extLst>
          </p:cNvPr>
          <p:cNvSpPr>
            <a:spLocks xmlns:a="http://schemas.openxmlformats.org/drawingml/2006/main" noGrp="1"/>
          </p:cNvSpPr>
          <p:nvPr/>
        </p:nvSpPr>
        <p:spPr>
          <a:xfrm xmlns:a="http://schemas.openxmlformats.org/drawingml/2006/main">
            <a:off x="552450" y="5905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Local neighborhoods reveal a different pattern</a:t>
            </a:r>
          </a:p>
        </p:txBody>
      </p:sp>
      <p:sp>
        <p:nvSpPr>
          <p:cNvPr id="3" name="">
            <a:extLst xmlns:a="http://schemas.openxmlformats.org/drawingml/2006/main">
              <a:ext uri="{FF2B5EF4-FFF2-40B4-BE49-F238E27FC236}">
                <a16:creationId xmlns:a16="http://schemas.microsoft.com/office/drawing/2014/main" id="{18C72643-A5D3-4E5A-815E-EE347B9460E0}"/>
              </a:ext>
            </a:extLst>
          </p:cNvPr>
          <p:cNvSpPr>
            <a:spLocks xmlns:a="http://schemas.openxmlformats.org/drawingml/2006/main" noGrp="1"/>
          </p:cNvSpPr>
          <p:nvPr/>
        </p:nvSpPr>
        <p:spPr>
          <a:xfrm xmlns:a="http://schemas.openxmlformats.org/drawingml/2006/main">
            <a:off x="113728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i="0">
                <a:solidFill>
                  <a:srgbClr val="5E6B73"/>
                </a:solidFill>
                <a:latin typeface="DejaVu Sans"/>
                <a:ea typeface="DejaVu Sans"/>
                <a:cs typeface="DejaVu Sans"/>
              </a:defRPr>
            </a:pPr>
            <a:r>
              <a:rPr sz="975" b="1" i="0">
                <a:solidFill>
                  <a:srgbClr val="5E6B73"/>
                </a:solidFill>
                <a:latin typeface="DejaVu Sans"/>
                <a:ea typeface="DejaVu Sans"/>
                <a:cs typeface="DejaVu Sans"/>
              </a:rPr>
              <a:t>08</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85a08ccf70c4009"/>
          <a:stretch xmlns:a="http://schemas.openxmlformats.org/drawingml/2006/main"/>
        </p:blipFill>
        <p:spPr>
          <a:xfrm xmlns:a="http://schemas.openxmlformats.org/drawingml/2006/main">
            <a:off x="512309" y="1285875"/>
            <a:ext cx="8062232" cy="5000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05CA21A-5246-4930-B70C-F42E151B4FD0}"/>
              </a:ext>
            </a:extLst>
          </p:cNvPr>
          <p:cNvSpPr>
            <a:spLocks xmlns:a="http://schemas.openxmlformats.org/drawingml/2006/main" noGrp="1"/>
          </p:cNvSpPr>
          <p:nvPr/>
        </p:nvSpPr>
        <p:spPr>
          <a:xfrm xmlns:a="http://schemas.openxmlformats.org/drawingml/2006/main">
            <a:off x="9096375" y="2143125"/>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300" b="1" i="0">
                <a:solidFill>
                  <a:srgbClr val="7458A6"/>
                </a:solidFill>
                <a:latin typeface="DejaVu Sans"/>
                <a:ea typeface="DejaVu Sans"/>
                <a:cs typeface="DejaVu Sans"/>
              </a:defRPr>
            </a:pPr>
            <a:r>
              <a:rPr sz="3300" b="1" i="0">
                <a:solidFill>
                  <a:srgbClr val="7458A6"/>
                </a:solidFill>
                <a:latin typeface="DejaVu Sans"/>
                <a:ea typeface="DejaVu Sans"/>
                <a:cs typeface="DejaVu Sans"/>
              </a:rPr>
              <a:t>WISE</a:t>
            </a:r>
          </a:p>
        </p:txBody>
      </p:sp>
      <p:sp>
        <p:nvSpPr>
          <p:cNvPr id="6" name="">
            <a:extLst xmlns:a="http://schemas.openxmlformats.org/drawingml/2006/main">
              <a:ext uri="{FF2B5EF4-FFF2-40B4-BE49-F238E27FC236}">
                <a16:creationId xmlns:a16="http://schemas.microsoft.com/office/drawing/2014/main" id="{7D6403EE-5F78-4D8C-B372-3125952AC752}"/>
              </a:ext>
            </a:extLst>
          </p:cNvPr>
          <p:cNvSpPr>
            <a:spLocks xmlns:a="http://schemas.openxmlformats.org/drawingml/2006/main" noGrp="1"/>
          </p:cNvSpPr>
          <p:nvPr/>
        </p:nvSpPr>
        <p:spPr>
          <a:xfrm xmlns:a="http://schemas.openxmlformats.org/drawingml/2006/main">
            <a:off x="9096375" y="2857500"/>
            <a:ext cx="219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102B3A"/>
                </a:solidFill>
                <a:latin typeface="DejaVu Sans"/>
                <a:ea typeface="DejaVu Sans"/>
                <a:cs typeface="DejaVu Sans"/>
              </a:defRPr>
            </a:pPr>
            <a:r>
              <a:rPr sz="1800" b="1" i="0">
                <a:solidFill>
                  <a:srgbClr val="102B3A"/>
                </a:solidFill>
                <a:latin typeface="DejaVu Sans"/>
                <a:ea typeface="DejaVu Sans"/>
                <a:cs typeface="DejaVu Sans"/>
              </a:rPr>
              <a:t>widest local</a:t>
            </a:r>
          </a:p>
          <a:p xmlns:a="http://schemas.openxmlformats.org/drawingml/2006/main">
            <a:pPr algn="ctr">
              <a:defRPr sz="1800" b="1" i="0">
                <a:solidFill>
                  <a:srgbClr val="102B3A"/>
                </a:solidFill>
                <a:latin typeface="DejaVu Sans"/>
                <a:ea typeface="DejaVu Sans"/>
                <a:cs typeface="DejaVu Sans"/>
              </a:defRPr>
            </a:pPr>
            <a:r>
              <a:rPr sz="1800" b="1" i="0">
                <a:solidFill>
                  <a:srgbClr val="102B3A"/>
                </a:solidFill>
                <a:latin typeface="DejaVu Sans"/>
                <a:ea typeface="DejaVu Sans"/>
                <a:cs typeface="DejaVu Sans"/>
              </a:rPr>
              <a:t>neighborhoods</a:t>
            </a:r>
          </a:p>
        </p:txBody>
      </p:sp>
      <p:sp>
        <p:nvSpPr>
          <p:cNvPr id="7" name="">
            <a:extLst xmlns:a="http://schemas.openxmlformats.org/drawingml/2006/main">
              <a:ext uri="{FF2B5EF4-FFF2-40B4-BE49-F238E27FC236}">
                <a16:creationId xmlns:a16="http://schemas.microsoft.com/office/drawing/2014/main" id="{A007F922-8DC1-4B54-BE2E-38517A2E412F}"/>
              </a:ext>
            </a:extLst>
          </p:cNvPr>
          <p:cNvSpPr>
            <a:spLocks xmlns:a="http://schemas.openxmlformats.org/drawingml/2006/main" noGrp="1"/>
          </p:cNvSpPr>
          <p:nvPr/>
        </p:nvSpPr>
        <p:spPr>
          <a:xfrm xmlns:a="http://schemas.openxmlformats.org/drawingml/2006/main">
            <a:off x="9096375" y="4524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E47A32"/>
                </a:solidFill>
                <a:latin typeface="DejaVu Sans"/>
                <a:ea typeface="DejaVu Sans"/>
                <a:cs typeface="DejaVu Sans"/>
              </a:defRPr>
            </a:pPr>
            <a:r>
              <a:rPr sz="1875" b="1" i="0">
                <a:solidFill>
                  <a:srgbClr val="E47A32"/>
                </a:solidFill>
                <a:latin typeface="DejaVu Sans"/>
                <a:ea typeface="DejaVu Sans"/>
                <a:cs typeface="DejaVu Sans"/>
              </a:rPr>
              <a:t>local  ≠  global</a:t>
            </a:r>
          </a:p>
        </p:txBody>
      </p:sp>
    </p:spTree>
    <p:extLst>
      <p:ext uri="{BB962C8B-B14F-4D97-AF65-F5344CB8AC3E}">
        <p14:creationId xmlns:p14="http://schemas.microsoft.com/office/powerpoint/2010/main" val="114557014"/>
      </p:ext>
    </p:extLst>
  </p:cSld>
</p:sld>
</file>

<file path=ppt/slides/slide9.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3BA82F-D045-46FD-94A5-74652EDA962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D80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BEA643-0350-4529-B8C6-EB13258A28A7}"/>
              </a:ext>
            </a:extLst>
          </p:cNvPr>
          <p:cNvSpPr>
            <a:spLocks xmlns:a="http://schemas.openxmlformats.org/drawingml/2006/main" noGrp="1"/>
          </p:cNvSpPr>
          <p:nvPr/>
        </p:nvSpPr>
        <p:spPr>
          <a:xfrm xmlns:a="http://schemas.openxmlformats.org/drawingml/2006/main">
            <a:off x="552450" y="5905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Total-route information helps—selectively</a:t>
            </a:r>
          </a:p>
        </p:txBody>
      </p:sp>
      <p:sp>
        <p:nvSpPr>
          <p:cNvPr id="3" name="">
            <a:extLst xmlns:a="http://schemas.openxmlformats.org/drawingml/2006/main">
              <a:ext uri="{FF2B5EF4-FFF2-40B4-BE49-F238E27FC236}">
                <a16:creationId xmlns:a16="http://schemas.microsoft.com/office/drawing/2014/main" id="{90FFBF34-EBDA-4B92-A148-500577ABBEF3}"/>
              </a:ext>
            </a:extLst>
          </p:cNvPr>
          <p:cNvSpPr>
            <a:spLocks xmlns:a="http://schemas.openxmlformats.org/drawingml/2006/main" noGrp="1"/>
          </p:cNvSpPr>
          <p:nvPr/>
        </p:nvSpPr>
        <p:spPr>
          <a:xfrm xmlns:a="http://schemas.openxmlformats.org/drawingml/2006/main">
            <a:off x="113728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i="0">
                <a:solidFill>
                  <a:srgbClr val="5E6B73"/>
                </a:solidFill>
                <a:latin typeface="DejaVu Sans"/>
                <a:ea typeface="DejaVu Sans"/>
                <a:cs typeface="DejaVu Sans"/>
              </a:defRPr>
            </a:pPr>
            <a:r>
              <a:rPr sz="975" b="1" i="0">
                <a:solidFill>
                  <a:srgbClr val="5E6B73"/>
                </a:solidFill>
                <a:latin typeface="DejaVu Sans"/>
                <a:ea typeface="DejaVu Sans"/>
                <a:cs typeface="DejaVu Sans"/>
              </a:rPr>
              <a:t>09</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8e74b5f20ee447b"/>
          <a:stretch xmlns:a="http://schemas.openxmlformats.org/drawingml/2006/main"/>
        </p:blipFill>
        <p:spPr>
          <a:xfrm xmlns:a="http://schemas.openxmlformats.org/drawingml/2006/main">
            <a:off x="507808" y="1352550"/>
            <a:ext cx="7423535" cy="490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BCDE45D-5D08-4990-B8BB-FF988602002C}"/>
              </a:ext>
            </a:extLst>
          </p:cNvPr>
          <p:cNvSpPr>
            <a:spLocks xmlns:a="http://schemas.openxmlformats.org/drawingml/2006/main" noGrp="1"/>
          </p:cNvSpPr>
          <p:nvPr/>
        </p:nvSpPr>
        <p:spPr>
          <a:xfrm xmlns:a="http://schemas.openxmlformats.org/drawingml/2006/main">
            <a:off x="8477250" y="1952625"/>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4050" b="1" i="0">
                <a:solidFill>
                  <a:srgbClr val="E47A32"/>
                </a:solidFill>
                <a:latin typeface="DejaVu Sans"/>
                <a:ea typeface="DejaVu Sans"/>
                <a:cs typeface="DejaVu Sans"/>
              </a:defRPr>
            </a:pPr>
            <a:r>
              <a:rPr sz="4050" b="1" i="0">
                <a:solidFill>
                  <a:srgbClr val="E47A32"/>
                </a:solidFill>
                <a:latin typeface="DejaVu Sans"/>
                <a:ea typeface="DejaVu Sans"/>
                <a:cs typeface="DejaVu Sans"/>
              </a:rPr>
              <a:t>+4.07%</a:t>
            </a:r>
          </a:p>
        </p:txBody>
      </p:sp>
      <p:sp>
        <p:nvSpPr>
          <p:cNvPr id="6" name="">
            <a:extLst xmlns:a="http://schemas.openxmlformats.org/drawingml/2006/main">
              <a:ext uri="{FF2B5EF4-FFF2-40B4-BE49-F238E27FC236}">
                <a16:creationId xmlns:a16="http://schemas.microsoft.com/office/drawing/2014/main" id="{BC2E8F3B-FBA1-4D2F-BEDD-5D78627728B9}"/>
              </a:ext>
            </a:extLst>
          </p:cNvPr>
          <p:cNvSpPr>
            <a:spLocks xmlns:a="http://schemas.openxmlformats.org/drawingml/2006/main" noGrp="1"/>
          </p:cNvSpPr>
          <p:nvPr/>
        </p:nvSpPr>
        <p:spPr>
          <a:xfrm xmlns:a="http://schemas.openxmlformats.org/drawingml/2006/main">
            <a:off x="8477250" y="281940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1" i="0">
                <a:solidFill>
                  <a:srgbClr val="102B3A"/>
                </a:solidFill>
                <a:latin typeface="DejaVu Sans"/>
                <a:ea typeface="DejaVu Sans"/>
                <a:cs typeface="DejaVu Sans"/>
              </a:defRPr>
            </a:pPr>
            <a:r>
              <a:rPr sz="1950" b="1" i="0">
                <a:solidFill>
                  <a:srgbClr val="102B3A"/>
                </a:solidFill>
                <a:latin typeface="DejaVu Sans"/>
                <a:ea typeface="DejaVu Sans"/>
                <a:cs typeface="DejaVu Sans"/>
              </a:rPr>
              <a:t>total envy</a:t>
            </a:r>
          </a:p>
        </p:txBody>
      </p:sp>
      <p:sp>
        <p:nvSpPr>
          <p:cNvPr id="7" name="">
            <a:extLst xmlns:a="http://schemas.openxmlformats.org/drawingml/2006/main">
              <a:ext uri="{FF2B5EF4-FFF2-40B4-BE49-F238E27FC236}">
                <a16:creationId xmlns:a16="http://schemas.microsoft.com/office/drawing/2014/main" id="{0085A313-6BBC-45EB-9460-367F7F344AEB}"/>
              </a:ext>
            </a:extLst>
          </p:cNvPr>
          <p:cNvSpPr>
            <a:spLocks xmlns:a="http://schemas.openxmlformats.org/drawingml/2006/main" noGrp="1"/>
          </p:cNvSpPr>
          <p:nvPr/>
        </p:nvSpPr>
        <p:spPr>
          <a:xfrm xmlns:a="http://schemas.openxmlformats.org/drawingml/2006/main">
            <a:off x="8477250" y="39052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i="0">
                <a:solidFill>
                  <a:srgbClr val="1D8077"/>
                </a:solidFill>
                <a:latin typeface="DejaVu Sans"/>
                <a:ea typeface="DejaVu Sans"/>
                <a:cs typeface="DejaVu Sans"/>
              </a:defRPr>
            </a:pPr>
            <a:r>
              <a:rPr sz="1575" b="0" i="0">
                <a:solidFill>
                  <a:srgbClr val="1D8077"/>
                </a:solidFill>
                <a:latin typeface="DejaVu Sans"/>
                <a:ea typeface="DejaVu Sans"/>
                <a:cs typeface="DejaVu Sans"/>
              </a:rPr>
              <a:t>total smart  +2.04%</a:t>
            </a:r>
          </a:p>
        </p:txBody>
      </p:sp>
      <p:sp>
        <p:nvSpPr>
          <p:cNvPr id="8" name="">
            <a:extLst xmlns:a="http://schemas.openxmlformats.org/drawingml/2006/main">
              <a:ext uri="{FF2B5EF4-FFF2-40B4-BE49-F238E27FC236}">
                <a16:creationId xmlns:a16="http://schemas.microsoft.com/office/drawing/2014/main" id="{CDC07B1C-4435-4A5E-830F-B8E1A626224D}"/>
              </a:ext>
            </a:extLst>
          </p:cNvPr>
          <p:cNvSpPr>
            <a:spLocks xmlns:a="http://schemas.openxmlformats.org/drawingml/2006/main" noGrp="1"/>
          </p:cNvSpPr>
          <p:nvPr/>
        </p:nvSpPr>
        <p:spPr>
          <a:xfrm xmlns:a="http://schemas.openxmlformats.org/drawingml/2006/main">
            <a:off x="8477250" y="4400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i="0">
                <a:solidFill>
                  <a:srgbClr val="7458A6"/>
                </a:solidFill>
                <a:latin typeface="DejaVu Sans"/>
                <a:ea typeface="DejaVu Sans"/>
                <a:cs typeface="DejaVu Sans"/>
              </a:defRPr>
            </a:pPr>
            <a:r>
              <a:rPr sz="1575" b="0" i="0">
                <a:solidFill>
                  <a:srgbClr val="7458A6"/>
                </a:solidFill>
                <a:latin typeface="DejaVu Sans"/>
                <a:ea typeface="DejaVu Sans"/>
                <a:cs typeface="DejaVu Sans"/>
              </a:rPr>
              <a:t>total wise  −0.41%</a:t>
            </a:r>
          </a:p>
        </p:txBody>
      </p:sp>
      <p:sp>
        <p:nvSpPr>
          <p:cNvPr id="9" name="">
            <a:extLst xmlns:a="http://schemas.openxmlformats.org/drawingml/2006/main">
              <a:ext uri="{FF2B5EF4-FFF2-40B4-BE49-F238E27FC236}">
                <a16:creationId xmlns:a16="http://schemas.microsoft.com/office/drawing/2014/main" id="{C097E306-D07F-4ACE-A24F-B0911F7B8367}"/>
              </a:ext>
            </a:extLst>
          </p:cNvPr>
          <p:cNvSpPr>
            <a:spLocks xmlns:a="http://schemas.openxmlformats.org/drawingml/2006/main" noGrp="1"/>
          </p:cNvSpPr>
          <p:nvPr/>
        </p:nvSpPr>
        <p:spPr>
          <a:xfrm xmlns:a="http://schemas.openxmlformats.org/drawingml/2006/main">
            <a:off x="8477250" y="52197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1">
                <a:solidFill>
                  <a:srgbClr val="5E6B73"/>
                </a:solidFill>
                <a:latin typeface="DejaVu Sans"/>
                <a:ea typeface="DejaVu Sans"/>
                <a:cs typeface="DejaVu Sans"/>
              </a:defRPr>
            </a:pPr>
            <a:r>
              <a:rPr sz="1350" b="0" i="1">
                <a:solidFill>
                  <a:srgbClr val="5E6B73"/>
                </a:solidFill>
                <a:latin typeface="DejaVu Sans"/>
                <a:ea typeface="DejaVu Sans"/>
                <a:cs typeface="DejaVu Sans"/>
              </a:rPr>
              <a:t>not universally better</a:t>
            </a:r>
          </a:p>
        </p:txBody>
      </p:sp>
    </p:spTree>
    <p:extLst>
      <p:ext uri="{BB962C8B-B14F-4D97-AF65-F5344CB8AC3E}">
        <p14:creationId xmlns:p14="http://schemas.microsoft.com/office/powerpoint/2010/main" val="1037191032"/>
      </p:ext>
    </p:extLst>
  </p:cSld>
</p:sld>
</file>

<file path=ppt/slides/slide10.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FCC1DE0-0D96-4F5E-953C-356786CAC82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D80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5DEF9C-BE28-4E63-AE36-A0324BB9ED29}"/>
              </a:ext>
            </a:extLst>
          </p:cNvPr>
          <p:cNvSpPr>
            <a:spLocks xmlns:a="http://schemas.openxmlformats.org/drawingml/2006/main" noGrp="1"/>
          </p:cNvSpPr>
          <p:nvPr/>
        </p:nvSpPr>
        <p:spPr>
          <a:xfrm xmlns:a="http://schemas.openxmlformats.org/drawingml/2006/main">
            <a:off x="552450" y="5905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Guided randomization tracks the quality frontier</a:t>
            </a:r>
          </a:p>
        </p:txBody>
      </p:sp>
      <p:sp>
        <p:nvSpPr>
          <p:cNvPr id="3" name="">
            <a:extLst xmlns:a="http://schemas.openxmlformats.org/drawingml/2006/main">
              <a:ext uri="{FF2B5EF4-FFF2-40B4-BE49-F238E27FC236}">
                <a16:creationId xmlns:a16="http://schemas.microsoft.com/office/drawing/2014/main" id="{5464123B-2716-4B8F-A166-3F4856AF7959}"/>
              </a:ext>
            </a:extLst>
          </p:cNvPr>
          <p:cNvSpPr>
            <a:spLocks xmlns:a="http://schemas.openxmlformats.org/drawingml/2006/main" noGrp="1"/>
          </p:cNvSpPr>
          <p:nvPr/>
        </p:nvSpPr>
        <p:spPr>
          <a:xfrm xmlns:a="http://schemas.openxmlformats.org/drawingml/2006/main">
            <a:off x="113728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i="0">
                <a:solidFill>
                  <a:srgbClr val="5E6B73"/>
                </a:solidFill>
                <a:latin typeface="DejaVu Sans"/>
                <a:ea typeface="DejaVu Sans"/>
                <a:cs typeface="DejaVu Sans"/>
              </a:defRPr>
            </a:pPr>
            <a:r>
              <a:rPr sz="975" b="1" i="0">
                <a:solidFill>
                  <a:srgbClr val="5E6B73"/>
                </a:solidFill>
                <a:latin typeface="DejaVu Sans"/>
                <a:ea typeface="DejaVu Sans"/>
                <a:cs typeface="DejaVu Sans"/>
              </a:rPr>
              <a:t>10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a52605c1b1643ef"/>
          <a:stretch xmlns:a="http://schemas.openxmlformats.org/drawingml/2006/main"/>
        </p:blipFill>
        <p:spPr>
          <a:xfrm xmlns:a="http://schemas.openxmlformats.org/drawingml/2006/main">
            <a:off x="400050" y="1505064"/>
            <a:ext cx="11382375" cy="202859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DA95DD4-C017-4274-90F4-F271C5001EC9}"/>
              </a:ext>
            </a:extLst>
          </p:cNvPr>
          <p:cNvSpPr>
            <a:spLocks xmlns:a="http://schemas.openxmlformats.org/drawingml/2006/main" noGrp="1"/>
          </p:cNvSpPr>
          <p:nvPr/>
        </p:nvSpPr>
        <p:spPr>
          <a:xfrm xmlns:a="http://schemas.openxmlformats.org/drawingml/2006/main">
            <a:off x="714375" y="4457700"/>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D86A9B"/>
                </a:solidFill>
                <a:latin typeface="DejaVu Sans"/>
                <a:ea typeface="DejaVu Sans"/>
                <a:cs typeface="DejaVu Sans"/>
              </a:defRPr>
            </a:pPr>
            <a:r>
              <a:rPr sz="3600" b="1" i="0">
                <a:solidFill>
                  <a:srgbClr val="D86A9B"/>
                </a:solidFill>
                <a:latin typeface="DejaVu Sans"/>
                <a:ea typeface="DejaVu Sans"/>
                <a:cs typeface="DejaVu Sans"/>
              </a:rPr>
              <a:t>+3.80%</a:t>
            </a:r>
          </a:p>
        </p:txBody>
      </p:sp>
      <p:sp>
        <p:nvSpPr>
          <p:cNvPr id="6" name="">
            <a:extLst xmlns:a="http://schemas.openxmlformats.org/drawingml/2006/main">
              <a:ext uri="{FF2B5EF4-FFF2-40B4-BE49-F238E27FC236}">
                <a16:creationId xmlns:a16="http://schemas.microsoft.com/office/drawing/2014/main" id="{5A64DD4B-A4D7-47C1-9905-440D336F1259}"/>
              </a:ext>
            </a:extLst>
          </p:cNvPr>
          <p:cNvSpPr>
            <a:spLocks xmlns:a="http://schemas.openxmlformats.org/drawingml/2006/main" noGrp="1"/>
          </p:cNvSpPr>
          <p:nvPr/>
        </p:nvSpPr>
        <p:spPr>
          <a:xfrm xmlns:a="http://schemas.openxmlformats.org/drawingml/2006/main">
            <a:off x="714375" y="5124450"/>
            <a:ext cx="300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E6B73"/>
                </a:solidFill>
                <a:latin typeface="DejaVu Sans"/>
                <a:ea typeface="DejaVu Sans"/>
                <a:cs typeface="DejaVu Sans"/>
              </a:defRPr>
            </a:pPr>
            <a:r>
              <a:rPr sz="1350" b="0" i="0">
                <a:solidFill>
                  <a:srgbClr val="5E6B73"/>
                </a:solidFill>
                <a:latin typeface="DejaVu Sans"/>
                <a:ea typeface="DejaVu Sans"/>
                <a:cs typeface="DejaVu Sans"/>
              </a:rPr>
              <a:t>best guided method</a:t>
            </a:r>
          </a:p>
        </p:txBody>
      </p:sp>
      <p:sp>
        <p:nvSpPr>
          <p:cNvPr id="7" name="">
            <a:extLst xmlns:a="http://schemas.openxmlformats.org/drawingml/2006/main">
              <a:ext uri="{FF2B5EF4-FFF2-40B4-BE49-F238E27FC236}">
                <a16:creationId xmlns:a16="http://schemas.microsoft.com/office/drawing/2014/main" id="{C5420BFA-7F03-4FFA-A1BB-481A0959BDEB}"/>
              </a:ext>
            </a:extLst>
          </p:cNvPr>
          <p:cNvSpPr>
            <a:spLocks xmlns:a="http://schemas.openxmlformats.org/drawingml/2006/main" noGrp="1"/>
          </p:cNvSpPr>
          <p:nvPr/>
        </p:nvSpPr>
        <p:spPr>
          <a:xfrm xmlns:a="http://schemas.openxmlformats.org/drawingml/2006/main">
            <a:off x="4267200" y="4457700"/>
            <a:ext cx="361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925" b="1" i="0">
                <a:solidFill>
                  <a:srgbClr val="7458A6"/>
                </a:solidFill>
                <a:latin typeface="DejaVu Sans"/>
                <a:ea typeface="DejaVu Sans"/>
                <a:cs typeface="DejaVu Sans"/>
              </a:defRPr>
            </a:pPr>
            <a:r>
              <a:rPr sz="2925" b="1" i="0">
                <a:solidFill>
                  <a:srgbClr val="7458A6"/>
                </a:solidFill>
                <a:latin typeface="DejaVu Sans"/>
                <a:ea typeface="DejaVu Sans"/>
                <a:cs typeface="DejaVu Sans"/>
              </a:rPr>
              <a:t>+3.55–3.80%</a:t>
            </a:r>
          </a:p>
        </p:txBody>
      </p:sp>
      <p:sp>
        <p:nvSpPr>
          <p:cNvPr id="8" name="">
            <a:extLst xmlns:a="http://schemas.openxmlformats.org/drawingml/2006/main">
              <a:ext uri="{FF2B5EF4-FFF2-40B4-BE49-F238E27FC236}">
                <a16:creationId xmlns:a16="http://schemas.microsoft.com/office/drawing/2014/main" id="{B1862848-4302-4298-BFB8-3026F5487634}"/>
              </a:ext>
            </a:extLst>
          </p:cNvPr>
          <p:cNvSpPr>
            <a:spLocks xmlns:a="http://schemas.openxmlformats.org/drawingml/2006/main" noGrp="1"/>
          </p:cNvSpPr>
          <p:nvPr/>
        </p:nvSpPr>
        <p:spPr>
          <a:xfrm xmlns:a="http://schemas.openxmlformats.org/drawingml/2006/main">
            <a:off x="4267200" y="5124450"/>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E6B73"/>
                </a:solidFill>
                <a:latin typeface="DejaVu Sans"/>
                <a:ea typeface="DejaVu Sans"/>
                <a:cs typeface="DejaVu Sans"/>
              </a:defRPr>
            </a:pPr>
            <a:r>
              <a:rPr sz="1350" b="0" i="0">
                <a:solidFill>
                  <a:srgbClr val="5E6B73"/>
                </a:solidFill>
                <a:latin typeface="DejaVu Sans"/>
                <a:ea typeface="DejaVu Sans"/>
                <a:cs typeface="DejaVu Sans"/>
              </a:rPr>
              <a:t>all guided methods</a:t>
            </a:r>
          </a:p>
        </p:txBody>
      </p:sp>
      <p:sp>
        <p:nvSpPr>
          <p:cNvPr id="9" name="">
            <a:extLst xmlns:a="http://schemas.openxmlformats.org/drawingml/2006/main">
              <a:ext uri="{FF2B5EF4-FFF2-40B4-BE49-F238E27FC236}">
                <a16:creationId xmlns:a16="http://schemas.microsoft.com/office/drawing/2014/main" id="{A8AA4D22-E1AF-4E25-AB1D-7DA777793F9E}"/>
              </a:ext>
            </a:extLst>
          </p:cNvPr>
          <p:cNvSpPr>
            <a:spLocks xmlns:a="http://schemas.openxmlformats.org/drawingml/2006/main" noGrp="1"/>
          </p:cNvSpPr>
          <p:nvPr/>
        </p:nvSpPr>
        <p:spPr>
          <a:xfrm xmlns:a="http://schemas.openxmlformats.org/drawingml/2006/main">
            <a:off x="8477250" y="445770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42494D"/>
                </a:solidFill>
                <a:latin typeface="DejaVu Sans"/>
                <a:ea typeface="DejaVu Sans"/>
                <a:cs typeface="DejaVu Sans"/>
              </a:defRPr>
            </a:pPr>
            <a:r>
              <a:rPr sz="3600" b="1" i="0">
                <a:solidFill>
                  <a:srgbClr val="42494D"/>
                </a:solidFill>
                <a:latin typeface="DejaVu Sans"/>
                <a:ea typeface="DejaVu Sans"/>
                <a:cs typeface="DejaVu Sans"/>
              </a:rPr>
              <a:t>−44.17%</a:t>
            </a:r>
          </a:p>
        </p:txBody>
      </p:sp>
      <p:sp>
        <p:nvSpPr>
          <p:cNvPr id="10" name="">
            <a:extLst xmlns:a="http://schemas.openxmlformats.org/drawingml/2006/main">
              <a:ext uri="{FF2B5EF4-FFF2-40B4-BE49-F238E27FC236}">
                <a16:creationId xmlns:a16="http://schemas.microsoft.com/office/drawing/2014/main" id="{6AE52D03-3E84-4D9C-8578-0B54D6B60BFF}"/>
              </a:ext>
            </a:extLst>
          </p:cNvPr>
          <p:cNvSpPr>
            <a:spLocks xmlns:a="http://schemas.openxmlformats.org/drawingml/2006/main" noGrp="1"/>
          </p:cNvSpPr>
          <p:nvPr/>
        </p:nvSpPr>
        <p:spPr>
          <a:xfrm xmlns:a="http://schemas.openxmlformats.org/drawingml/2006/main">
            <a:off x="8477250" y="51244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E6B73"/>
                </a:solidFill>
                <a:latin typeface="DejaVu Sans"/>
                <a:ea typeface="DejaVu Sans"/>
                <a:cs typeface="DejaVu Sans"/>
              </a:defRPr>
            </a:pPr>
            <a:r>
              <a:rPr sz="1350" b="0" i="0">
                <a:solidFill>
                  <a:srgbClr val="5E6B73"/>
                </a:solidFill>
                <a:latin typeface="DejaVu Sans"/>
                <a:ea typeface="DejaVu Sans"/>
                <a:cs typeface="DejaVu Sans"/>
              </a:rPr>
              <a:t>pure random insertion</a:t>
            </a:r>
          </a:p>
        </p:txBody>
      </p:sp>
    </p:spTree>
    <p:extLst>
      <p:ext uri="{BB962C8B-B14F-4D97-AF65-F5344CB8AC3E}">
        <p14:creationId xmlns:p14="http://schemas.microsoft.com/office/powerpoint/2010/main" val="856486927"/>
      </p:ext>
    </p:extLst>
  </p:cSld>
</p:sld>
</file>

<file path=ppt/slides/slide11.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5EACC00-3ABF-4427-B790-9D1442F782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D80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E6AC31-A880-4860-A1D4-A634825599F4}"/>
              </a:ext>
            </a:extLst>
          </p:cNvPr>
          <p:cNvSpPr>
            <a:spLocks xmlns:a="http://schemas.openxmlformats.org/drawingml/2006/main" noGrp="1"/>
          </p:cNvSpPr>
          <p:nvPr/>
        </p:nvSpPr>
        <p:spPr>
          <a:xfrm xmlns:a="http://schemas.openxmlformats.org/drawingml/2006/main">
            <a:off x="552450" y="5905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Guidance expands exploration</a:t>
            </a:r>
          </a:p>
        </p:txBody>
      </p:sp>
      <p:sp>
        <p:nvSpPr>
          <p:cNvPr id="3" name="">
            <a:extLst xmlns:a="http://schemas.openxmlformats.org/drawingml/2006/main">
              <a:ext uri="{FF2B5EF4-FFF2-40B4-BE49-F238E27FC236}">
                <a16:creationId xmlns:a16="http://schemas.microsoft.com/office/drawing/2014/main" id="{B62B39B1-41A0-467E-85A8-D71E31C1F636}"/>
              </a:ext>
            </a:extLst>
          </p:cNvPr>
          <p:cNvSpPr>
            <a:spLocks xmlns:a="http://schemas.openxmlformats.org/drawingml/2006/main" noGrp="1"/>
          </p:cNvSpPr>
          <p:nvPr/>
        </p:nvSpPr>
        <p:spPr>
          <a:xfrm xmlns:a="http://schemas.openxmlformats.org/drawingml/2006/main">
            <a:off x="113728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i="0">
                <a:solidFill>
                  <a:srgbClr val="5E6B73"/>
                </a:solidFill>
                <a:latin typeface="DejaVu Sans"/>
                <a:ea typeface="DejaVu Sans"/>
                <a:cs typeface="DejaVu Sans"/>
              </a:defRPr>
            </a:pPr>
            <a:r>
              <a:rPr sz="975" b="1" i="0">
                <a:solidFill>
                  <a:srgbClr val="5E6B73"/>
                </a:solidFill>
                <a:latin typeface="DejaVu Sans"/>
                <a:ea typeface="DejaVu Sans"/>
                <a:cs typeface="DejaVu Sans"/>
              </a:rPr>
              <a:t>11</a:t>
            </a:r>
          </a:p>
        </p:txBody>
      </p:sp>
      <p:sp>
        <p:nvSpPr>
          <p:cNvPr id="4" name="">
            <a:extLst xmlns:a="http://schemas.openxmlformats.org/drawingml/2006/main">
              <a:ext uri="{FF2B5EF4-FFF2-40B4-BE49-F238E27FC236}">
                <a16:creationId xmlns:a16="http://schemas.microsoft.com/office/drawing/2014/main" id="{0D52E8D9-FF67-4A0A-9103-B76317F0A314}"/>
              </a:ext>
            </a:extLst>
          </p:cNvPr>
          <p:cNvSpPr>
            <a:spLocks xmlns:a="http://schemas.openxmlformats.org/drawingml/2006/main" noGrp="1"/>
          </p:cNvSpPr>
          <p:nvPr/>
        </p:nvSpPr>
        <p:spPr>
          <a:xfrm xmlns:a="http://schemas.openxmlformats.org/drawingml/2006/main">
            <a:off x="2905125" y="12573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5E6B73"/>
                </a:solidFill>
                <a:latin typeface="DejaVu Sans"/>
                <a:ea typeface="DejaVu Sans"/>
                <a:cs typeface="DejaVu Sans"/>
              </a:defRPr>
            </a:pPr>
            <a:r>
              <a:rPr sz="1200" b="1" i="0">
                <a:solidFill>
                  <a:srgbClr val="5E6B73"/>
                </a:solidFill>
                <a:latin typeface="DejaVu Sans"/>
                <a:ea typeface="DejaVu Sans"/>
                <a:cs typeface="DejaVu Sans"/>
              </a:rPr>
              <a:t>quality vs. marginal smart</a:t>
            </a:r>
          </a:p>
        </p:txBody>
      </p:sp>
      <p:sp>
        <p:nvSpPr>
          <p:cNvPr id="5" name="">
            <a:extLst xmlns:a="http://schemas.openxmlformats.org/drawingml/2006/main">
              <a:ext uri="{FF2B5EF4-FFF2-40B4-BE49-F238E27FC236}">
                <a16:creationId xmlns:a16="http://schemas.microsoft.com/office/drawing/2014/main" id="{AD641DDC-9ED7-4F08-8EDD-643732877307}"/>
              </a:ext>
            </a:extLst>
          </p:cNvPr>
          <p:cNvSpPr>
            <a:spLocks xmlns:a="http://schemas.openxmlformats.org/drawingml/2006/main" noGrp="1"/>
          </p:cNvSpPr>
          <p:nvPr/>
        </p:nvSpPr>
        <p:spPr>
          <a:xfrm xmlns:a="http://schemas.openxmlformats.org/drawingml/2006/main">
            <a:off x="5905500" y="12573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5E6B73"/>
                </a:solidFill>
                <a:latin typeface="DejaVu Sans"/>
                <a:ea typeface="DejaVu Sans"/>
                <a:cs typeface="DejaVu Sans"/>
              </a:defRPr>
            </a:pPr>
            <a:r>
              <a:rPr sz="1200" b="1" i="0">
                <a:solidFill>
                  <a:srgbClr val="5E6B73"/>
                </a:solidFill>
                <a:latin typeface="DejaVu Sans"/>
                <a:ea typeface="DejaVu Sans"/>
                <a:cs typeface="DejaVu Sans"/>
              </a:rPr>
              <a:t>global diversity retained vs. pure random</a:t>
            </a:r>
          </a:p>
        </p:txBody>
      </p:sp>
      <p:sp>
        <p:nvSpPr>
          <p:cNvPr id="6" name="">
            <a:extLst xmlns:a="http://schemas.openxmlformats.org/drawingml/2006/main">
              <a:ext uri="{FF2B5EF4-FFF2-40B4-BE49-F238E27FC236}">
                <a16:creationId xmlns:a16="http://schemas.microsoft.com/office/drawing/2014/main" id="{2B4DFEF3-3A4B-4366-8109-7E16997D4B7F}"/>
              </a:ext>
            </a:extLst>
          </p:cNvPr>
          <p:cNvSpPr>
            <a:spLocks xmlns:a="http://schemas.openxmlformats.org/drawingml/2006/main" noGrp="1"/>
          </p:cNvSpPr>
          <p:nvPr/>
        </p:nvSpPr>
        <p:spPr>
          <a:xfrm xmlns:a="http://schemas.openxmlformats.org/drawingml/2006/main">
            <a:off x="666750" y="1981200"/>
            <a:ext cx="2266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i="0">
                <a:solidFill>
                  <a:srgbClr val="102B3A"/>
                </a:solidFill>
                <a:latin typeface="DejaVu Sans"/>
                <a:ea typeface="DejaVu Sans"/>
                <a:cs typeface="DejaVu Sans"/>
              </a:defRPr>
            </a:pPr>
            <a:r>
              <a:rPr sz="1650" b="1" i="0">
                <a:solidFill>
                  <a:srgbClr val="102B3A"/>
                </a:solidFill>
                <a:latin typeface="DejaVu Sans"/>
                <a:ea typeface="DejaVu Sans"/>
                <a:cs typeface="DejaVu Sans"/>
              </a:rPr>
              <a:t>best deterministic</a:t>
            </a:r>
          </a:p>
        </p:txBody>
      </p:sp>
      <p:sp>
        <p:nvSpPr>
          <p:cNvPr id="7" name="">
            <a:extLst xmlns:a="http://schemas.openxmlformats.org/drawingml/2006/main">
              <a:ext uri="{FF2B5EF4-FFF2-40B4-BE49-F238E27FC236}">
                <a16:creationId xmlns:a16="http://schemas.microsoft.com/office/drawing/2014/main" id="{D9222FAB-4EC3-41CF-A6BF-824F400C1F47}"/>
              </a:ext>
            </a:extLst>
          </p:cNvPr>
          <p:cNvSpPr>
            <a:spLocks xmlns:a="http://schemas.openxmlformats.org/drawingml/2006/main" noGrp="1"/>
          </p:cNvSpPr>
          <p:nvPr/>
        </p:nvSpPr>
        <p:spPr>
          <a:xfrm xmlns:a="http://schemas.openxmlformats.org/drawingml/2006/main">
            <a:off x="3048000" y="19812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i="0">
                <a:solidFill>
                  <a:srgbClr val="E47A32"/>
                </a:solidFill>
                <a:latin typeface="DejaVu Sans"/>
                <a:ea typeface="DejaVu Sans"/>
                <a:cs typeface="DejaVu Sans"/>
              </a:defRPr>
            </a:pPr>
            <a:r>
              <a:rPr sz="2025" b="1" i="0">
                <a:solidFill>
                  <a:srgbClr val="E47A32"/>
                </a:solidFill>
                <a:latin typeface="DejaVu Sans"/>
                <a:ea typeface="DejaVu Sans"/>
                <a:cs typeface="DejaVu Sans"/>
              </a:rPr>
              <a:t>+4.07%</a:t>
            </a:r>
          </a:p>
        </p:txBody>
      </p:sp>
      <p:sp>
        <p:nvSpPr>
          <p:cNvPr id="8" name="">
            <a:extLst xmlns:a="http://schemas.openxmlformats.org/drawingml/2006/main">
              <a:ext uri="{FF2B5EF4-FFF2-40B4-BE49-F238E27FC236}">
                <a16:creationId xmlns:a16="http://schemas.microsoft.com/office/drawing/2014/main" id="{67724F02-01A3-4DE1-837D-7AE4E04B40FD}"/>
              </a:ext>
            </a:extLst>
          </p:cNvPr>
          <p:cNvSpPr>
            <a:spLocks xmlns:a="http://schemas.openxmlformats.org/drawingml/2006/main" noGrp="1"/>
          </p:cNvSpPr>
          <p:nvPr/>
        </p:nvSpPr>
        <p:spPr>
          <a:xfrm xmlns:a="http://schemas.openxmlformats.org/drawingml/2006/main">
            <a:off x="5476875" y="2114550"/>
            <a:ext cx="5048250" cy="228600"/>
          </a:xfrm>
          <a:prstGeom xmlns:a="http://schemas.openxmlformats.org/drawingml/2006/main" prst="roundRect">
            <a:avLst>
              <a:gd name="adj" fmla="val 50000"/>
            </a:avLst>
          </a:prstGeom>
          <a:solidFill xmlns:a="http://schemas.openxmlformats.org/drawingml/2006/main">
            <a:srgbClr val="E8ECE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4686A03-B314-4664-825C-EE7CC5754461}"/>
              </a:ext>
            </a:extLst>
          </p:cNvPr>
          <p:cNvSpPr>
            <a:spLocks xmlns:a="http://schemas.openxmlformats.org/drawingml/2006/main" noGrp="1"/>
          </p:cNvSpPr>
          <p:nvPr/>
        </p:nvSpPr>
        <p:spPr>
          <a:xfrm xmlns:a="http://schemas.openxmlformats.org/drawingml/2006/main">
            <a:off x="5476875" y="2114550"/>
            <a:ext cx="1514475" cy="228600"/>
          </a:xfrm>
          <a:prstGeom xmlns:a="http://schemas.openxmlformats.org/drawingml/2006/main" prst="roundRect">
            <a:avLst>
              <a:gd name="adj" fmla="val 50000"/>
            </a:avLst>
          </a:prstGeom>
          <a:solidFill xmlns:a="http://schemas.openxmlformats.org/drawingml/2006/main">
            <a:srgbClr val="E47A3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811448B-4438-45F9-AED8-26DF79AC6242}"/>
              </a:ext>
            </a:extLst>
          </p:cNvPr>
          <p:cNvSpPr>
            <a:spLocks xmlns:a="http://schemas.openxmlformats.org/drawingml/2006/main" noGrp="1"/>
          </p:cNvSpPr>
          <p:nvPr/>
        </p:nvSpPr>
        <p:spPr>
          <a:xfrm xmlns:a="http://schemas.openxmlformats.org/drawingml/2006/main">
            <a:off x="10648950" y="1981200"/>
            <a:ext cx="933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800" b="1" i="0">
                <a:solidFill>
                  <a:srgbClr val="E47A32"/>
                </a:solidFill>
                <a:latin typeface="DejaVu Sans"/>
                <a:ea typeface="DejaVu Sans"/>
                <a:cs typeface="DejaVu Sans"/>
              </a:defRPr>
            </a:pPr>
            <a:r>
              <a:rPr sz="1800" b="1" i="0">
                <a:solidFill>
                  <a:srgbClr val="E47A32"/>
                </a:solidFill>
                <a:latin typeface="DejaVu Sans"/>
                <a:ea typeface="DejaVu Sans"/>
                <a:cs typeface="DejaVu Sans"/>
              </a:rPr>
              <a:t>30%</a:t>
            </a:r>
          </a:p>
        </p:txBody>
      </p:sp>
      <p:sp>
        <p:nvSpPr>
          <p:cNvPr id="11" name="">
            <a:extLst xmlns:a="http://schemas.openxmlformats.org/drawingml/2006/main">
              <a:ext uri="{FF2B5EF4-FFF2-40B4-BE49-F238E27FC236}">
                <a16:creationId xmlns:a16="http://schemas.microsoft.com/office/drawing/2014/main" id="{63003323-F125-4B6F-BD20-E6EE040F1B75}"/>
              </a:ext>
            </a:extLst>
          </p:cNvPr>
          <p:cNvSpPr>
            <a:spLocks xmlns:a="http://schemas.openxmlformats.org/drawingml/2006/main" noGrp="1"/>
          </p:cNvSpPr>
          <p:nvPr/>
        </p:nvSpPr>
        <p:spPr>
          <a:xfrm xmlns:a="http://schemas.openxmlformats.org/drawingml/2006/main">
            <a:off x="666750" y="3257550"/>
            <a:ext cx="2266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i="0">
                <a:solidFill>
                  <a:srgbClr val="102B3A"/>
                </a:solidFill>
                <a:latin typeface="DejaVu Sans"/>
                <a:ea typeface="DejaVu Sans"/>
                <a:cs typeface="DejaVu Sans"/>
              </a:defRPr>
            </a:pPr>
            <a:r>
              <a:rPr sz="1650" b="1" i="0">
                <a:solidFill>
                  <a:srgbClr val="102B3A"/>
                </a:solidFill>
                <a:latin typeface="DejaVu Sans"/>
                <a:ea typeface="DejaVu Sans"/>
                <a:cs typeface="DejaVu Sans"/>
              </a:rPr>
              <a:t>guided random</a:t>
            </a:r>
          </a:p>
        </p:txBody>
      </p:sp>
      <p:sp>
        <p:nvSpPr>
          <p:cNvPr id="12" name="">
            <a:extLst xmlns:a="http://schemas.openxmlformats.org/drawingml/2006/main">
              <a:ext uri="{FF2B5EF4-FFF2-40B4-BE49-F238E27FC236}">
                <a16:creationId xmlns:a16="http://schemas.microsoft.com/office/drawing/2014/main" id="{32A6A978-D641-49DE-A782-9D4052AF9881}"/>
              </a:ext>
            </a:extLst>
          </p:cNvPr>
          <p:cNvSpPr>
            <a:spLocks xmlns:a="http://schemas.openxmlformats.org/drawingml/2006/main" noGrp="1"/>
          </p:cNvSpPr>
          <p:nvPr/>
        </p:nvSpPr>
        <p:spPr>
          <a:xfrm xmlns:a="http://schemas.openxmlformats.org/drawingml/2006/main">
            <a:off x="3048000" y="32575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i="0">
                <a:solidFill>
                  <a:srgbClr val="D86A9B"/>
                </a:solidFill>
                <a:latin typeface="DejaVu Sans"/>
                <a:ea typeface="DejaVu Sans"/>
                <a:cs typeface="DejaVu Sans"/>
              </a:defRPr>
            </a:pPr>
            <a:r>
              <a:rPr sz="2025" b="1" i="0">
                <a:solidFill>
                  <a:srgbClr val="D86A9B"/>
                </a:solidFill>
                <a:latin typeface="DejaVu Sans"/>
                <a:ea typeface="DejaVu Sans"/>
                <a:cs typeface="DejaVu Sans"/>
              </a:rPr>
              <a:t>+3.55–3.80%</a:t>
            </a:r>
          </a:p>
        </p:txBody>
      </p:sp>
      <p:sp>
        <p:nvSpPr>
          <p:cNvPr id="13" name="">
            <a:extLst xmlns:a="http://schemas.openxmlformats.org/drawingml/2006/main">
              <a:ext uri="{FF2B5EF4-FFF2-40B4-BE49-F238E27FC236}">
                <a16:creationId xmlns:a16="http://schemas.microsoft.com/office/drawing/2014/main" id="{DC5A9FF7-8209-4623-8C48-13B6AB156301}"/>
              </a:ext>
            </a:extLst>
          </p:cNvPr>
          <p:cNvSpPr>
            <a:spLocks xmlns:a="http://schemas.openxmlformats.org/drawingml/2006/main" noGrp="1"/>
          </p:cNvSpPr>
          <p:nvPr/>
        </p:nvSpPr>
        <p:spPr>
          <a:xfrm xmlns:a="http://schemas.openxmlformats.org/drawingml/2006/main">
            <a:off x="5476875" y="3390900"/>
            <a:ext cx="5048250" cy="228600"/>
          </a:xfrm>
          <a:prstGeom xmlns:a="http://schemas.openxmlformats.org/drawingml/2006/main" prst="roundRect">
            <a:avLst>
              <a:gd name="adj" fmla="val 50000"/>
            </a:avLst>
          </a:prstGeom>
          <a:solidFill xmlns:a="http://schemas.openxmlformats.org/drawingml/2006/main">
            <a:srgbClr val="E8ECE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2EAC800-9C30-4B31-BACF-17AFCEAEB44B}"/>
              </a:ext>
            </a:extLst>
          </p:cNvPr>
          <p:cNvSpPr>
            <a:spLocks xmlns:a="http://schemas.openxmlformats.org/drawingml/2006/main" noGrp="1"/>
          </p:cNvSpPr>
          <p:nvPr/>
        </p:nvSpPr>
        <p:spPr>
          <a:xfrm xmlns:a="http://schemas.openxmlformats.org/drawingml/2006/main">
            <a:off x="5476875" y="3390900"/>
            <a:ext cx="3533775" cy="228600"/>
          </a:xfrm>
          <a:prstGeom xmlns:a="http://schemas.openxmlformats.org/drawingml/2006/main" prst="roundRect">
            <a:avLst>
              <a:gd name="adj" fmla="val 50000"/>
            </a:avLst>
          </a:prstGeom>
          <a:solidFill xmlns:a="http://schemas.openxmlformats.org/drawingml/2006/main">
            <a:srgbClr val="D86A9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2C950F5-A0D6-432E-9679-9F7EF2D4643C}"/>
              </a:ext>
            </a:extLst>
          </p:cNvPr>
          <p:cNvSpPr>
            <a:spLocks xmlns:a="http://schemas.openxmlformats.org/drawingml/2006/main" noGrp="1"/>
          </p:cNvSpPr>
          <p:nvPr/>
        </p:nvSpPr>
        <p:spPr>
          <a:xfrm xmlns:a="http://schemas.openxmlformats.org/drawingml/2006/main">
            <a:off x="10648950" y="3257550"/>
            <a:ext cx="933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800" b="1" i="0">
                <a:solidFill>
                  <a:srgbClr val="D86A9B"/>
                </a:solidFill>
                <a:latin typeface="DejaVu Sans"/>
                <a:ea typeface="DejaVu Sans"/>
                <a:cs typeface="DejaVu Sans"/>
              </a:defRPr>
            </a:pPr>
            <a:r>
              <a:rPr sz="1800" b="1" i="0">
                <a:solidFill>
                  <a:srgbClr val="D86A9B"/>
                </a:solidFill>
                <a:latin typeface="DejaVu Sans"/>
                <a:ea typeface="DejaVu Sans"/>
                <a:cs typeface="DejaVu Sans"/>
              </a:rPr>
              <a:t>70%</a:t>
            </a:r>
          </a:p>
        </p:txBody>
      </p:sp>
      <p:sp>
        <p:nvSpPr>
          <p:cNvPr id="16" name="">
            <a:extLst xmlns:a="http://schemas.openxmlformats.org/drawingml/2006/main">
              <a:ext uri="{FF2B5EF4-FFF2-40B4-BE49-F238E27FC236}">
                <a16:creationId xmlns:a16="http://schemas.microsoft.com/office/drawing/2014/main" id="{E26C2603-2DB8-4BB4-8FBA-DD7AE4D5663B}"/>
              </a:ext>
            </a:extLst>
          </p:cNvPr>
          <p:cNvSpPr>
            <a:spLocks xmlns:a="http://schemas.openxmlformats.org/drawingml/2006/main" noGrp="1"/>
          </p:cNvSpPr>
          <p:nvPr/>
        </p:nvSpPr>
        <p:spPr>
          <a:xfrm xmlns:a="http://schemas.openxmlformats.org/drawingml/2006/main">
            <a:off x="666750" y="4533900"/>
            <a:ext cx="2266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i="0">
                <a:solidFill>
                  <a:srgbClr val="102B3A"/>
                </a:solidFill>
                <a:latin typeface="DejaVu Sans"/>
                <a:ea typeface="DejaVu Sans"/>
                <a:cs typeface="DejaVu Sans"/>
              </a:defRPr>
            </a:pPr>
            <a:r>
              <a:rPr sz="1650" b="1" i="0">
                <a:solidFill>
                  <a:srgbClr val="102B3A"/>
                </a:solidFill>
                <a:latin typeface="DejaVu Sans"/>
                <a:ea typeface="DejaVu Sans"/>
                <a:cs typeface="DejaVu Sans"/>
              </a:rPr>
              <a:t>pure random</a:t>
            </a:r>
          </a:p>
        </p:txBody>
      </p:sp>
      <p:sp>
        <p:nvSpPr>
          <p:cNvPr id="17" name="">
            <a:extLst xmlns:a="http://schemas.openxmlformats.org/drawingml/2006/main">
              <a:ext uri="{FF2B5EF4-FFF2-40B4-BE49-F238E27FC236}">
                <a16:creationId xmlns:a16="http://schemas.microsoft.com/office/drawing/2014/main" id="{4A50751A-E4B2-44B4-B00E-4A76E74F4188}"/>
              </a:ext>
            </a:extLst>
          </p:cNvPr>
          <p:cNvSpPr>
            <a:spLocks xmlns:a="http://schemas.openxmlformats.org/drawingml/2006/main" noGrp="1"/>
          </p:cNvSpPr>
          <p:nvPr/>
        </p:nvSpPr>
        <p:spPr>
          <a:xfrm xmlns:a="http://schemas.openxmlformats.org/drawingml/2006/main">
            <a:off x="3048000" y="45339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i="0">
                <a:solidFill>
                  <a:srgbClr val="42494D"/>
                </a:solidFill>
                <a:latin typeface="DejaVu Sans"/>
                <a:ea typeface="DejaVu Sans"/>
                <a:cs typeface="DejaVu Sans"/>
              </a:defRPr>
            </a:pPr>
            <a:r>
              <a:rPr sz="2025" b="1" i="0">
                <a:solidFill>
                  <a:srgbClr val="42494D"/>
                </a:solidFill>
                <a:latin typeface="DejaVu Sans"/>
                <a:ea typeface="DejaVu Sans"/>
                <a:cs typeface="DejaVu Sans"/>
              </a:rPr>
              <a:t>−44.17%</a:t>
            </a:r>
          </a:p>
        </p:txBody>
      </p:sp>
      <p:sp>
        <p:nvSpPr>
          <p:cNvPr id="18" name="">
            <a:extLst xmlns:a="http://schemas.openxmlformats.org/drawingml/2006/main">
              <a:ext uri="{FF2B5EF4-FFF2-40B4-BE49-F238E27FC236}">
                <a16:creationId xmlns:a16="http://schemas.microsoft.com/office/drawing/2014/main" id="{32A0FFE4-0FEC-4C51-BB6F-B42D3C0003EC}"/>
              </a:ext>
            </a:extLst>
          </p:cNvPr>
          <p:cNvSpPr>
            <a:spLocks xmlns:a="http://schemas.openxmlformats.org/drawingml/2006/main" noGrp="1"/>
          </p:cNvSpPr>
          <p:nvPr/>
        </p:nvSpPr>
        <p:spPr>
          <a:xfrm xmlns:a="http://schemas.openxmlformats.org/drawingml/2006/main">
            <a:off x="5476875" y="4667250"/>
            <a:ext cx="5048250" cy="228600"/>
          </a:xfrm>
          <a:prstGeom xmlns:a="http://schemas.openxmlformats.org/drawingml/2006/main" prst="roundRect">
            <a:avLst>
              <a:gd name="adj" fmla="val 50000"/>
            </a:avLst>
          </a:prstGeom>
          <a:solidFill xmlns:a="http://schemas.openxmlformats.org/drawingml/2006/main">
            <a:srgbClr val="E8ECE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53C6C6A-C9A9-4AE5-92ED-EA4DE4C19F3D}"/>
              </a:ext>
            </a:extLst>
          </p:cNvPr>
          <p:cNvSpPr>
            <a:spLocks xmlns:a="http://schemas.openxmlformats.org/drawingml/2006/main" noGrp="1"/>
          </p:cNvSpPr>
          <p:nvPr/>
        </p:nvSpPr>
        <p:spPr>
          <a:xfrm xmlns:a="http://schemas.openxmlformats.org/drawingml/2006/main">
            <a:off x="5476875" y="4667250"/>
            <a:ext cx="5048250" cy="228600"/>
          </a:xfrm>
          <a:prstGeom xmlns:a="http://schemas.openxmlformats.org/drawingml/2006/main" prst="roundRect">
            <a:avLst>
              <a:gd name="adj" fmla="val 50000"/>
            </a:avLst>
          </a:prstGeom>
          <a:solidFill xmlns:a="http://schemas.openxmlformats.org/drawingml/2006/main">
            <a:srgbClr val="42494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CCF72A2-77DE-451F-B73D-1EB34D1EE7F3}"/>
              </a:ext>
            </a:extLst>
          </p:cNvPr>
          <p:cNvSpPr>
            <a:spLocks xmlns:a="http://schemas.openxmlformats.org/drawingml/2006/main" noGrp="1"/>
          </p:cNvSpPr>
          <p:nvPr/>
        </p:nvSpPr>
        <p:spPr>
          <a:xfrm xmlns:a="http://schemas.openxmlformats.org/drawingml/2006/main">
            <a:off x="10648950" y="4533900"/>
            <a:ext cx="933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800" b="1" i="0">
                <a:solidFill>
                  <a:srgbClr val="42494D"/>
                </a:solidFill>
                <a:latin typeface="DejaVu Sans"/>
                <a:ea typeface="DejaVu Sans"/>
                <a:cs typeface="DejaVu Sans"/>
              </a:defRPr>
            </a:pPr>
            <a:r>
              <a:rPr sz="1800" b="1" i="0">
                <a:solidFill>
                  <a:srgbClr val="42494D"/>
                </a:solidFill>
                <a:latin typeface="DejaVu Sans"/>
                <a:ea typeface="DejaVu Sans"/>
                <a:cs typeface="DejaVu Sans"/>
              </a:rPr>
              <a:t>100%</a:t>
            </a:r>
          </a:p>
        </p:txBody>
      </p:sp>
      <p:sp>
        <p:nvSpPr>
          <p:cNvPr id="21" name="">
            <a:extLst xmlns:a="http://schemas.openxmlformats.org/drawingml/2006/main">
              <a:ext uri="{FF2B5EF4-FFF2-40B4-BE49-F238E27FC236}">
                <a16:creationId xmlns:a16="http://schemas.microsoft.com/office/drawing/2014/main" id="{9E735320-61AA-4452-9B12-A2771C81D084}"/>
              </a:ext>
            </a:extLst>
          </p:cNvPr>
          <p:cNvSpPr>
            <a:spLocks xmlns:a="http://schemas.openxmlformats.org/drawingml/2006/main" noGrp="1"/>
          </p:cNvSpPr>
          <p:nvPr/>
        </p:nvSpPr>
        <p:spPr>
          <a:xfrm xmlns:a="http://schemas.openxmlformats.org/drawingml/2006/main">
            <a:off x="3810000" y="5810250"/>
            <a:ext cx="704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i="1">
                <a:solidFill>
                  <a:srgbClr val="5E6B73"/>
                </a:solidFill>
                <a:latin typeface="DejaVu Sans"/>
                <a:ea typeface="DejaVu Sans"/>
                <a:cs typeface="DejaVu Sans"/>
              </a:defRPr>
            </a:pPr>
            <a:r>
              <a:rPr sz="1275" b="0" i="1">
                <a:solidFill>
                  <a:srgbClr val="5E6B73"/>
                </a:solidFill>
                <a:latin typeface="DejaVu Sans"/>
                <a:ea typeface="DejaVu Sans"/>
                <a:cs typeface="DejaVu Sans"/>
              </a:rPr>
              <a:t>Bars summarize the reported ranges: deterministic 28–31%; guided 69–71%.</a:t>
            </a:r>
          </a:p>
        </p:txBody>
      </p:sp>
    </p:spTree>
    <p:extLst>
      <p:ext uri="{BB962C8B-B14F-4D97-AF65-F5344CB8AC3E}">
        <p14:creationId xmlns:p14="http://schemas.microsoft.com/office/powerpoint/2010/main" val="2057989095"/>
      </p:ext>
    </p:extLst>
  </p:cSld>
</p:sld>
</file>

<file path=ppt/slides/slide12.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E50DE3-B27C-42A2-97AD-D1C257BEEF9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D80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5184B6-966D-46EA-ABB6-77D11A70ED87}"/>
              </a:ext>
            </a:extLst>
          </p:cNvPr>
          <p:cNvSpPr>
            <a:spLocks xmlns:a="http://schemas.openxmlformats.org/drawingml/2006/main" noGrp="1"/>
          </p:cNvSpPr>
          <p:nvPr/>
        </p:nvSpPr>
        <p:spPr>
          <a:xfrm xmlns:a="http://schemas.openxmlformats.org/drawingml/2006/main">
            <a:off x="552450" y="5905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02B3A"/>
                </a:solidFill>
                <a:latin typeface="DejaVu Sans"/>
                <a:ea typeface="DejaVu Sans"/>
                <a:cs typeface="DejaVu Sans"/>
              </a:defRPr>
            </a:pPr>
            <a:r>
              <a:rPr sz="2400" b="1" i="0">
                <a:solidFill>
                  <a:srgbClr val="102B3A"/>
                </a:solidFill>
                <a:latin typeface="DejaVu Sans"/>
                <a:ea typeface="DejaVu Sans"/>
                <a:cs typeface="DejaVu Sans"/>
              </a:rPr>
              <a:t>The same method can reach structurally distant routes</a:t>
            </a:r>
          </a:p>
        </p:txBody>
      </p:sp>
      <p:sp>
        <p:nvSpPr>
          <p:cNvPr id="3" name="">
            <a:extLst xmlns:a="http://schemas.openxmlformats.org/drawingml/2006/main">
              <a:ext uri="{FF2B5EF4-FFF2-40B4-BE49-F238E27FC236}">
                <a16:creationId xmlns:a16="http://schemas.microsoft.com/office/drawing/2014/main" id="{551C436B-4D3D-4D2D-964B-20597CEC8A07}"/>
              </a:ext>
            </a:extLst>
          </p:cNvPr>
          <p:cNvSpPr>
            <a:spLocks xmlns:a="http://schemas.openxmlformats.org/drawingml/2006/main" noGrp="1"/>
          </p:cNvSpPr>
          <p:nvPr/>
        </p:nvSpPr>
        <p:spPr>
          <a:xfrm xmlns:a="http://schemas.openxmlformats.org/drawingml/2006/main">
            <a:off x="113728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i="0">
                <a:solidFill>
                  <a:srgbClr val="5E6B73"/>
                </a:solidFill>
                <a:latin typeface="DejaVu Sans"/>
                <a:ea typeface="DejaVu Sans"/>
                <a:cs typeface="DejaVu Sans"/>
              </a:defRPr>
            </a:pPr>
            <a:r>
              <a:rPr sz="975" b="1" i="0">
                <a:solidFill>
                  <a:srgbClr val="5E6B73"/>
                </a:solidFill>
                <a:latin typeface="DejaVu Sans"/>
                <a:ea typeface="DejaVu Sans"/>
                <a:cs typeface="DejaVu Sans"/>
              </a:rPr>
              <a:t>12</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106f5b534e24c30"/>
          <a:stretch xmlns:a="http://schemas.openxmlformats.org/drawingml/2006/main"/>
        </p:blipFill>
        <p:spPr>
          <a:xfrm xmlns:a="http://schemas.openxmlformats.org/drawingml/2006/main">
            <a:off x="1480921" y="1104900"/>
            <a:ext cx="9353983" cy="5524500"/>
          </a:xfrm>
          <a:prstGeom xmlns:a="http://schemas.openxmlformats.org/drawingml/2006/main" prst="rect">
            <a:avLst/>
          </a:prstGeom>
        </p:spPr>
      </p:pic>
    </p:spTree>
    <p:extLst>
      <p:ext uri="{BB962C8B-B14F-4D97-AF65-F5344CB8AC3E}">
        <p14:creationId xmlns:p14="http://schemas.microsoft.com/office/powerpoint/2010/main" val="1678101082"/>
      </p:ext>
    </p:extLst>
  </p:cSld>
</p:sld>
</file>

<file path=ppt/slides/slide13.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D5D7814-6ADD-483D-AD36-B8EF2B5DB93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E47A3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079F1A-27AE-49E4-B350-35B4CDCF82ED}"/>
              </a:ext>
            </a:extLst>
          </p:cNvPr>
          <p:cNvSpPr>
            <a:spLocks xmlns:a="http://schemas.openxmlformats.org/drawingml/2006/main" noGrp="1"/>
          </p:cNvSpPr>
          <p:nvPr/>
        </p:nvSpPr>
        <p:spPr>
          <a:xfrm xmlns:a="http://schemas.openxmlformats.org/drawingml/2006/main">
            <a:off x="666750" y="4572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8FD5CE"/>
                </a:solidFill>
                <a:latin typeface="DejaVu Sans"/>
                <a:ea typeface="DejaVu Sans"/>
                <a:cs typeface="DejaVu Sans"/>
              </a:defRPr>
            </a:pPr>
            <a:r>
              <a:rPr sz="1125" b="1" i="0">
                <a:solidFill>
                  <a:srgbClr val="8FD5CE"/>
                </a:solidFill>
                <a:latin typeface="DejaVu Sans"/>
                <a:ea typeface="DejaVu Sans"/>
                <a:cs typeface="DejaVu Sans"/>
              </a:rPr>
              <a:t>TAKEAWAYS</a:t>
            </a:r>
          </a:p>
        </p:txBody>
      </p:sp>
      <p:sp>
        <p:nvSpPr>
          <p:cNvPr id="3" name="">
            <a:extLst xmlns:a="http://schemas.openxmlformats.org/drawingml/2006/main">
              <a:ext uri="{FF2B5EF4-FFF2-40B4-BE49-F238E27FC236}">
                <a16:creationId xmlns:a16="http://schemas.microsoft.com/office/drawing/2014/main" id="{87143FC5-38CA-4A3A-BDB6-ED777377737E}"/>
              </a:ext>
            </a:extLst>
          </p:cNvPr>
          <p:cNvSpPr>
            <a:spLocks xmlns:a="http://schemas.openxmlformats.org/drawingml/2006/main" noGrp="1"/>
          </p:cNvSpPr>
          <p:nvPr/>
        </p:nvSpPr>
        <p:spPr>
          <a:xfrm xmlns:a="http://schemas.openxmlformats.org/drawingml/2006/main">
            <a:off x="666750" y="838200"/>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FFFFFF"/>
                </a:solidFill>
                <a:latin typeface="DejaVu Sans"/>
                <a:ea typeface="DejaVu Sans"/>
                <a:cs typeface="DejaVu Sans"/>
              </a:defRPr>
            </a:pPr>
            <a:r>
              <a:rPr sz="3150" b="1" i="0">
                <a:solidFill>
                  <a:srgbClr val="FFFFFF"/>
                </a:solidFill>
                <a:latin typeface="DejaVu Sans"/>
                <a:ea typeface="DejaVu Sans"/>
                <a:cs typeface="DejaVu Sans"/>
              </a:rPr>
              <a:t>Guided randomness wins the compromise</a:t>
            </a:r>
          </a:p>
        </p:txBody>
      </p:sp>
      <p:sp>
        <p:nvSpPr>
          <p:cNvPr id="4" name="">
            <a:extLst xmlns:a="http://schemas.openxmlformats.org/drawingml/2006/main">
              <a:ext uri="{FF2B5EF4-FFF2-40B4-BE49-F238E27FC236}">
                <a16:creationId xmlns:a16="http://schemas.microsoft.com/office/drawing/2014/main" id="{42B2BB54-74FE-479E-9008-173F696EF963}"/>
              </a:ext>
            </a:extLst>
          </p:cNvPr>
          <p:cNvSpPr>
            <a:spLocks xmlns:a="http://schemas.openxmlformats.org/drawingml/2006/main" noGrp="1"/>
          </p:cNvSpPr>
          <p:nvPr/>
        </p:nvSpPr>
        <p:spPr>
          <a:xfrm xmlns:a="http://schemas.openxmlformats.org/drawingml/2006/main">
            <a:off x="685800" y="23812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E47A32"/>
                </a:solidFill>
                <a:latin typeface="DejaVu Sans"/>
                <a:ea typeface="DejaVu Sans"/>
                <a:cs typeface="DejaVu Sans"/>
              </a:defRPr>
            </a:pPr>
            <a:r>
              <a:rPr sz="3600" b="1" i="0">
                <a:solidFill>
                  <a:srgbClr val="E47A32"/>
                </a:solidFill>
                <a:latin typeface="DejaVu Sans"/>
                <a:ea typeface="DejaVu Sans"/>
                <a:cs typeface="DejaVu Sans"/>
              </a:rPr>
              <a:t>+4.07%</a:t>
            </a:r>
          </a:p>
        </p:txBody>
      </p:sp>
      <p:sp>
        <p:nvSpPr>
          <p:cNvPr id="5" name="">
            <a:extLst xmlns:a="http://schemas.openxmlformats.org/drawingml/2006/main">
              <a:ext uri="{FF2B5EF4-FFF2-40B4-BE49-F238E27FC236}">
                <a16:creationId xmlns:a16="http://schemas.microsoft.com/office/drawing/2014/main" id="{0C8F77C2-8F0C-4CEA-9B53-425FA6A51897}"/>
              </a:ext>
            </a:extLst>
          </p:cNvPr>
          <p:cNvSpPr>
            <a:spLocks xmlns:a="http://schemas.openxmlformats.org/drawingml/2006/main" noGrp="1"/>
          </p:cNvSpPr>
          <p:nvPr/>
        </p:nvSpPr>
        <p:spPr>
          <a:xfrm xmlns:a="http://schemas.openxmlformats.org/drawingml/2006/main">
            <a:off x="685800" y="3048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BDD3D7"/>
                </a:solidFill>
                <a:latin typeface="DejaVu Sans"/>
                <a:ea typeface="DejaVu Sans"/>
                <a:cs typeface="DejaVu Sans"/>
              </a:defRPr>
            </a:pPr>
            <a:r>
              <a:rPr sz="1350" b="0" i="0">
                <a:solidFill>
                  <a:srgbClr val="BDD3D7"/>
                </a:solidFill>
                <a:latin typeface="DejaVu Sans"/>
                <a:ea typeface="DejaVu Sans"/>
                <a:cs typeface="DejaVu Sans"/>
              </a:rPr>
              <a:t>best deterministic</a:t>
            </a:r>
          </a:p>
          <a:p xmlns:a="http://schemas.openxmlformats.org/drawingml/2006/main">
            <a:pPr algn="ctr">
              <a:defRPr sz="1350" b="0" i="0">
                <a:solidFill>
                  <a:srgbClr val="BDD3D7"/>
                </a:solidFill>
                <a:latin typeface="DejaVu Sans"/>
                <a:ea typeface="DejaVu Sans"/>
                <a:cs typeface="DejaVu Sans"/>
              </a:defRPr>
            </a:pPr>
            <a:r>
              <a:rPr sz="1350" b="0" i="0">
                <a:solidFill>
                  <a:srgbClr val="BDD3D7"/>
                </a:solidFill>
                <a:latin typeface="DejaVu Sans"/>
                <a:ea typeface="DejaVu Sans"/>
                <a:cs typeface="DejaVu Sans"/>
              </a:rPr>
              <a:t>(total envy)</a:t>
            </a:r>
          </a:p>
        </p:txBody>
      </p:sp>
      <p:sp>
        <p:nvSpPr>
          <p:cNvPr id="6" name="">
            <a:extLst xmlns:a="http://schemas.openxmlformats.org/drawingml/2006/main">
              <a:ext uri="{FF2B5EF4-FFF2-40B4-BE49-F238E27FC236}">
                <a16:creationId xmlns:a16="http://schemas.microsoft.com/office/drawing/2014/main" id="{643AF9C6-93FD-471B-A687-7CBD9B56109D}"/>
              </a:ext>
            </a:extLst>
          </p:cNvPr>
          <p:cNvSpPr>
            <a:spLocks xmlns:a="http://schemas.openxmlformats.org/drawingml/2006/main" noGrp="1"/>
          </p:cNvSpPr>
          <p:nvPr/>
        </p:nvSpPr>
        <p:spPr>
          <a:xfrm xmlns:a="http://schemas.openxmlformats.org/drawingml/2006/main">
            <a:off x="4572000" y="23812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E795BA"/>
                </a:solidFill>
                <a:latin typeface="DejaVu Sans"/>
                <a:ea typeface="DejaVu Sans"/>
                <a:cs typeface="DejaVu Sans"/>
              </a:defRPr>
            </a:pPr>
            <a:r>
              <a:rPr sz="3600" b="1" i="0">
                <a:solidFill>
                  <a:srgbClr val="E795BA"/>
                </a:solidFill>
                <a:latin typeface="DejaVu Sans"/>
                <a:ea typeface="DejaVu Sans"/>
                <a:cs typeface="DejaVu Sans"/>
              </a:rPr>
              <a:t>+3.80%</a:t>
            </a:r>
          </a:p>
        </p:txBody>
      </p:sp>
      <p:sp>
        <p:nvSpPr>
          <p:cNvPr id="7" name="">
            <a:extLst xmlns:a="http://schemas.openxmlformats.org/drawingml/2006/main">
              <a:ext uri="{FF2B5EF4-FFF2-40B4-BE49-F238E27FC236}">
                <a16:creationId xmlns:a16="http://schemas.microsoft.com/office/drawing/2014/main" id="{5F8A9637-C540-49F7-BB97-871DE3E9839A}"/>
              </a:ext>
            </a:extLst>
          </p:cNvPr>
          <p:cNvSpPr>
            <a:spLocks xmlns:a="http://schemas.openxmlformats.org/drawingml/2006/main" noGrp="1"/>
          </p:cNvSpPr>
          <p:nvPr/>
        </p:nvSpPr>
        <p:spPr>
          <a:xfrm xmlns:a="http://schemas.openxmlformats.org/drawingml/2006/main">
            <a:off x="4572000" y="3048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BDD3D7"/>
                </a:solidFill>
                <a:latin typeface="DejaVu Sans"/>
                <a:ea typeface="DejaVu Sans"/>
                <a:cs typeface="DejaVu Sans"/>
              </a:defRPr>
            </a:pPr>
            <a:r>
              <a:rPr sz="1350" b="0" i="0">
                <a:solidFill>
                  <a:srgbClr val="BDD3D7"/>
                </a:solidFill>
                <a:latin typeface="DejaVu Sans"/>
                <a:ea typeface="DejaVu Sans"/>
                <a:cs typeface="DejaVu Sans"/>
              </a:rPr>
              <a:t>best guided</a:t>
            </a:r>
          </a:p>
          <a:p xmlns:a="http://schemas.openxmlformats.org/drawingml/2006/main">
            <a:pPr algn="ctr">
              <a:defRPr sz="1350" b="0" i="0">
                <a:solidFill>
                  <a:srgbClr val="BDD3D7"/>
                </a:solidFill>
                <a:latin typeface="DejaVu Sans"/>
                <a:ea typeface="DejaVu Sans"/>
                <a:cs typeface="DejaVu Sans"/>
              </a:defRPr>
            </a:pPr>
            <a:r>
              <a:rPr sz="1350" b="0" i="0">
                <a:solidFill>
                  <a:srgbClr val="BDD3D7"/>
                </a:solidFill>
                <a:latin typeface="DejaVu Sans"/>
                <a:ea typeface="DejaVu Sans"/>
                <a:cs typeface="DejaVu Sans"/>
              </a:rPr>
              <a:t>randomized method</a:t>
            </a:r>
          </a:p>
        </p:txBody>
      </p:sp>
      <p:sp>
        <p:nvSpPr>
          <p:cNvPr id="8" name="">
            <a:extLst xmlns:a="http://schemas.openxmlformats.org/drawingml/2006/main">
              <a:ext uri="{FF2B5EF4-FFF2-40B4-BE49-F238E27FC236}">
                <a16:creationId xmlns:a16="http://schemas.microsoft.com/office/drawing/2014/main" id="{CEF75120-53CE-412D-B4FF-FD259742E460}"/>
              </a:ext>
            </a:extLst>
          </p:cNvPr>
          <p:cNvSpPr>
            <a:spLocks xmlns:a="http://schemas.openxmlformats.org/drawingml/2006/main" noGrp="1"/>
          </p:cNvSpPr>
          <p:nvPr/>
        </p:nvSpPr>
        <p:spPr>
          <a:xfrm xmlns:a="http://schemas.openxmlformats.org/drawingml/2006/main">
            <a:off x="8477250" y="23812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8FD5CE"/>
                </a:solidFill>
                <a:latin typeface="DejaVu Sans"/>
                <a:ea typeface="DejaVu Sans"/>
                <a:cs typeface="DejaVu Sans"/>
              </a:defRPr>
            </a:pPr>
            <a:r>
              <a:rPr sz="3600" b="1" i="0">
                <a:solidFill>
                  <a:srgbClr val="8FD5CE"/>
                </a:solidFill>
                <a:latin typeface="DejaVu Sans"/>
                <a:ea typeface="DejaVu Sans"/>
                <a:cs typeface="DejaVu Sans"/>
              </a:rPr>
              <a:t>69–71%</a:t>
            </a:r>
          </a:p>
        </p:txBody>
      </p:sp>
      <p:sp>
        <p:nvSpPr>
          <p:cNvPr id="9" name="">
            <a:extLst xmlns:a="http://schemas.openxmlformats.org/drawingml/2006/main">
              <a:ext uri="{FF2B5EF4-FFF2-40B4-BE49-F238E27FC236}">
                <a16:creationId xmlns:a16="http://schemas.microsoft.com/office/drawing/2014/main" id="{16AEE7DD-EA4C-4D27-993D-37811B331336}"/>
              </a:ext>
            </a:extLst>
          </p:cNvPr>
          <p:cNvSpPr>
            <a:spLocks xmlns:a="http://schemas.openxmlformats.org/drawingml/2006/main" noGrp="1"/>
          </p:cNvSpPr>
          <p:nvPr/>
        </p:nvSpPr>
        <p:spPr>
          <a:xfrm xmlns:a="http://schemas.openxmlformats.org/drawingml/2006/main">
            <a:off x="8477250" y="3048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BDD3D7"/>
                </a:solidFill>
                <a:latin typeface="DejaVu Sans"/>
                <a:ea typeface="DejaVu Sans"/>
                <a:cs typeface="DejaVu Sans"/>
              </a:defRPr>
            </a:pPr>
            <a:r>
              <a:rPr sz="1350" b="0" i="0">
                <a:solidFill>
                  <a:srgbClr val="BDD3D7"/>
                </a:solidFill>
                <a:latin typeface="DejaVu Sans"/>
                <a:ea typeface="DejaVu Sans"/>
                <a:cs typeface="DejaVu Sans"/>
              </a:rPr>
              <a:t>pure-random global</a:t>
            </a:r>
          </a:p>
          <a:p xmlns:a="http://schemas.openxmlformats.org/drawingml/2006/main">
            <a:pPr algn="ctr">
              <a:defRPr sz="1350" b="0" i="0">
                <a:solidFill>
                  <a:srgbClr val="BDD3D7"/>
                </a:solidFill>
                <a:latin typeface="DejaVu Sans"/>
                <a:ea typeface="DejaVu Sans"/>
                <a:cs typeface="DejaVu Sans"/>
              </a:defRPr>
            </a:pPr>
            <a:r>
              <a:rPr sz="1350" b="0" i="0">
                <a:solidFill>
                  <a:srgbClr val="BDD3D7"/>
                </a:solidFill>
                <a:latin typeface="DejaVu Sans"/>
                <a:ea typeface="DejaVu Sans"/>
                <a:cs typeface="DejaVu Sans"/>
              </a:rPr>
              <a:t>diversity retained</a:t>
            </a:r>
          </a:p>
        </p:txBody>
      </p:sp>
      <p:sp>
        <p:nvSpPr>
          <p:cNvPr id="10" name="">
            <a:extLst xmlns:a="http://schemas.openxmlformats.org/drawingml/2006/main">
              <a:ext uri="{FF2B5EF4-FFF2-40B4-BE49-F238E27FC236}">
                <a16:creationId xmlns:a16="http://schemas.microsoft.com/office/drawing/2014/main" id="{B7B59C5C-095E-4893-9596-564486216186}"/>
              </a:ext>
            </a:extLst>
          </p:cNvPr>
          <p:cNvSpPr>
            <a:spLocks xmlns:a="http://schemas.openxmlformats.org/drawingml/2006/main" noGrp="1"/>
          </p:cNvSpPr>
          <p:nvPr/>
        </p:nvSpPr>
        <p:spPr>
          <a:xfrm xmlns:a="http://schemas.openxmlformats.org/drawingml/2006/main">
            <a:off x="1571625" y="5191125"/>
            <a:ext cx="904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974"/>
          </a:bodyPr>
          <a:lstStyle xmlns:a="http://schemas.openxmlformats.org/drawingml/2006/main"/>
          <a:p xmlns:a="http://schemas.openxmlformats.org/drawingml/2006/main">
            <a:pPr algn="ctr">
              <a:defRPr sz="2175" b="1" i="0">
                <a:solidFill>
                  <a:srgbClr val="FFFFFF"/>
                </a:solidFill>
                <a:latin typeface="DejaVu Sans"/>
                <a:ea typeface="DejaVu Sans"/>
                <a:cs typeface="DejaVu Sans"/>
              </a:defRPr>
            </a:pPr>
            <a:r>
              <a:rPr sz="2175" b="1" i="0">
                <a:solidFill>
                  <a:srgbClr val="FFFFFF"/>
                </a:solidFill>
                <a:latin typeface="DejaVu Sans"/>
                <a:ea typeface="DejaVu Sans"/>
                <a:cs typeface="DejaVu Sans"/>
              </a:rPr>
              <a:t>Randomness should expand the search—not replace judgment.</a:t>
            </a:r>
          </a:p>
        </p:txBody>
      </p:sp>
      <p:sp>
        <p:nvSpPr>
          <p:cNvPr id="11" name="">
            <a:extLst xmlns:a="http://schemas.openxmlformats.org/drawingml/2006/main">
              <a:ext uri="{FF2B5EF4-FFF2-40B4-BE49-F238E27FC236}">
                <a16:creationId xmlns:a16="http://schemas.microsoft.com/office/drawing/2014/main" id="{56EF9F09-C702-47C4-BF85-2A60FEC34514}"/>
              </a:ext>
            </a:extLst>
          </p:cNvPr>
          <p:cNvSpPr>
            <a:spLocks xmlns:a="http://schemas.openxmlformats.org/drawingml/2006/main" noGrp="1"/>
          </p:cNvSpPr>
          <p:nvPr/>
        </p:nvSpPr>
        <p:spPr>
          <a:xfrm xmlns:a="http://schemas.openxmlformats.org/drawingml/2006/main">
            <a:off x="666750" y="62579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BDD3D7"/>
                </a:solidFill>
                <a:latin typeface="DejaVu Sans"/>
                <a:ea typeface="DejaVu Sans"/>
                <a:cs typeface="DejaVu Sans"/>
              </a:defRPr>
            </a:pPr>
            <a:r>
              <a:rPr sz="1200" b="0" i="0">
                <a:solidFill>
                  <a:srgbClr val="BDD3D7"/>
                </a:solidFill>
                <a:latin typeface="DejaVu Sans"/>
                <a:ea typeface="DejaVu Sans"/>
                <a:cs typeface="DejaVu Sans"/>
              </a:rPr>
              <a:t>João Pereira · UFRN</a:t>
            </a:r>
          </a:p>
        </p:txBody>
      </p:sp>
    </p:spTree>
    <p:extLst>
      <p:ext uri="{BB962C8B-B14F-4D97-AF65-F5344CB8AC3E}">
        <p14:creationId xmlns:p14="http://schemas.microsoft.com/office/powerpoint/2010/main" val="7450066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2026-09-21T18:27:32.6060000Z</dcterms:created>
  <dcterms:modified xsi:type="dcterms:W3CDTF">2026-09-21T18:27:32.6060000Z</dcterms:modified>
</coreProperties>
</file>